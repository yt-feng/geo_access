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10"/>
  </p:notesMasterIdLst>
  <p:handoutMasterIdLst>
    <p:handoutMasterId r:id="rId11"/>
  </p:handoutMasterIdLst>
  <p:sldIdLst>
    <p:sldId id="606" r:id="rId2"/>
    <p:sldId id="613" r:id="rId3"/>
    <p:sldId id="266" r:id="rId4"/>
    <p:sldId id="267" r:id="rId5"/>
    <p:sldId id="614" r:id="rId6"/>
    <p:sldId id="615" r:id="rId7"/>
    <p:sldId id="616" r:id="rId8"/>
    <p:sldId id="617" r:id="rId9"/>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CB918F3-7248-ED45-8E48-EE9E9222A0CF}">
          <p14:sldIdLst>
            <p14:sldId id="606"/>
            <p14:sldId id="613"/>
            <p14:sldId id="266"/>
            <p14:sldId id="267"/>
            <p14:sldId id="614"/>
            <p14:sldId id="615"/>
            <p14:sldId id="616"/>
            <p14:sldId id="61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4C4"/>
    <a:srgbClr val="BDB8CC"/>
    <a:srgbClr val="D2D8EA"/>
    <a:srgbClr val="F2F2F2"/>
    <a:srgbClr val="000C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03"/>
    <p:restoredTop sz="94748"/>
  </p:normalViewPr>
  <p:slideViewPr>
    <p:cSldViewPr snapToGrid="0">
      <p:cViewPr varScale="1">
        <p:scale>
          <a:sx n="92" d="100"/>
          <a:sy n="92" d="100"/>
        </p:scale>
        <p:origin x="208" y="656"/>
      </p:cViewPr>
      <p:guideLst/>
    </p:cSldViewPr>
  </p:slideViewPr>
  <p:notesTextViewPr>
    <p:cViewPr>
      <p:scale>
        <a:sx n="1" d="1"/>
        <a:sy n="1" d="1"/>
      </p:scale>
      <p:origin x="0" y="0"/>
    </p:cViewPr>
  </p:notesTextViewPr>
  <p:notesViewPr>
    <p:cSldViewPr snapToGrid="0">
      <p:cViewPr varScale="1">
        <p:scale>
          <a:sx n="91" d="100"/>
          <a:sy n="91" d="100"/>
        </p:scale>
        <p:origin x="409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279608-9334-7F15-5C9A-8FBEF23AB3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a:extLst>
              <a:ext uri="{FF2B5EF4-FFF2-40B4-BE49-F238E27FC236}">
                <a16:creationId xmlns:a16="http://schemas.microsoft.com/office/drawing/2014/main" id="{768A5E47-4209-CBE6-BFA7-C35228EC50F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BFD92C-3B9A-874F-8D23-A847BBE49B02}" type="datetimeFigureOut">
              <a:rPr lang="en-CN" smtClean="0"/>
              <a:t>2026/5/28</a:t>
            </a:fld>
            <a:endParaRPr lang="en-CN"/>
          </a:p>
        </p:txBody>
      </p:sp>
      <p:sp>
        <p:nvSpPr>
          <p:cNvPr id="4" name="Footer Placeholder 3">
            <a:extLst>
              <a:ext uri="{FF2B5EF4-FFF2-40B4-BE49-F238E27FC236}">
                <a16:creationId xmlns:a16="http://schemas.microsoft.com/office/drawing/2014/main" id="{92B9C192-5CC4-EF29-F943-35F7D3EE519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5" name="Slide Number Placeholder 4">
            <a:extLst>
              <a:ext uri="{FF2B5EF4-FFF2-40B4-BE49-F238E27FC236}">
                <a16:creationId xmlns:a16="http://schemas.microsoft.com/office/drawing/2014/main" id="{6D3C3FFF-D0D3-4FDE-5E23-9CFF048D7B9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25C3CE-2F4D-504F-B6C8-5C35C9DC49A2}" type="slidenum">
              <a:rPr lang="en-CN" smtClean="0"/>
              <a:t>‹#›</a:t>
            </a:fld>
            <a:endParaRPr lang="en-CN"/>
          </a:p>
        </p:txBody>
      </p:sp>
    </p:spTree>
    <p:extLst>
      <p:ext uri="{BB962C8B-B14F-4D97-AF65-F5344CB8AC3E}">
        <p14:creationId xmlns:p14="http://schemas.microsoft.com/office/powerpoint/2010/main" val="14759971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0FB05-F659-B94A-BB00-5BE63973EBD5}" type="datetimeFigureOut">
              <a:rPr kumimoji="1" lang="zh-CN" altLang="en-US" smtClean="0"/>
              <a:t>2026/5/28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401690-042F-844B-A157-DF15A5A4AE12}" type="slidenum">
              <a:rPr kumimoji="1" lang="zh-CN" altLang="en-US" smtClean="0"/>
              <a:t>‹#›</a:t>
            </a:fld>
            <a:endParaRPr kumimoji="1" lang="zh-CN" altLang="en-US"/>
          </a:p>
        </p:txBody>
      </p:sp>
    </p:spTree>
    <p:extLst>
      <p:ext uri="{BB962C8B-B14F-4D97-AF65-F5344CB8AC3E}">
        <p14:creationId xmlns:p14="http://schemas.microsoft.com/office/powerpoint/2010/main" val="3234422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7.png"/><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9.jpe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8.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0.xml"/><Relationship Id="rId7" Type="http://schemas.openxmlformats.org/officeDocument/2006/relationships/image" Target="../media/image8.emf"/><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11.xml"/><Relationship Id="rId9" Type="http://schemas.openxmlformats.org/officeDocument/2006/relationships/image" Target="../media/image9.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3.png"/><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7.png"/><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9.jpe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1.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7.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8257421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7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283248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8106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23384099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4956221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4958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a:fillRect/>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424670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0874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a:fillRect/>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46782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024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a:fillRect/>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5137981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8942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a:fillRect/>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40322874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7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17906060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7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5123091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a:fillRect/>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60389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73924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30316475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852787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a:t>
            </a:r>
            <a:r>
              <a:rPr lang="en-US" sz="900" b="0" dirty="0" err="1">
                <a:latin typeface="+mn-lt"/>
                <a:sym typeface="Trebuchet MS" panose="020B0603020202020204" pitchFamily="34" charset="0"/>
              </a:rPr>
              <a:t>BlueOcean</a:t>
            </a:r>
            <a:r>
              <a:rPr lang="en-US" sz="900" b="0" dirty="0">
                <a:latin typeface="+mn-lt"/>
                <a:sym typeface="Trebuchet MS" panose="020B0603020202020204" pitchFamily="34" charset="0"/>
              </a:rPr>
              <a:t>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37371530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0" imgH="0" progId="TCLayout.ActiveDocument.1">
                  <p:embed/>
                </p:oleObj>
              </mc:Choice>
              <mc:Fallback>
                <p:oleObj name="think-cell Slide" r:id="rId5" imgW="0" imgH="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a:p>
        </p:txBody>
      </p:sp>
    </p:spTree>
    <p:extLst>
      <p:ext uri="{BB962C8B-B14F-4D97-AF65-F5344CB8AC3E}">
        <p14:creationId xmlns:p14="http://schemas.microsoft.com/office/powerpoint/2010/main" val="222021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53" name="Slide edge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3449277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0" imgH="0" progId="TCLayout.ActiveDocument.1">
                  <p:embed/>
                </p:oleObj>
              </mc:Choice>
              <mc:Fallback>
                <p:oleObj name="think-cell Slide" r:id="rId6" imgW="0" imgH="0"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a:fillRect/>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a:fillRect/>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a:p>
        </p:txBody>
      </p:sp>
    </p:spTree>
    <p:extLst>
      <p:ext uri="{BB962C8B-B14F-4D97-AF65-F5344CB8AC3E}">
        <p14:creationId xmlns:p14="http://schemas.microsoft.com/office/powerpoint/2010/main" val="775161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3572727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6" name="Text Placeholder 5"/>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30279583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8180555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7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942655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8853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8589893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7819974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385365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6152375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1497957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266727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4306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a:fillRect/>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6825377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8270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a:fillRect/>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5587140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4251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a:fillRect/>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41021513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233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a:fillRect/>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169341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7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0342073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7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6071568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a:fillRect/>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23456187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5897112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0193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2021 by </a:t>
            </a:r>
            <a:r>
              <a:rPr lang="en-US" sz="700" dirty="0" err="1">
                <a:solidFill>
                  <a:schemeClr val="bg1"/>
                </a:solidFill>
                <a:latin typeface="+mn-lt"/>
                <a:sym typeface="Trebuchet MS" panose="020B0603020202020204" pitchFamily="34" charset="0"/>
              </a:rPr>
              <a:t>BlueOcean</a:t>
            </a:r>
            <a:r>
              <a:rPr lang="en-US" sz="700" dirty="0">
                <a:solidFill>
                  <a:schemeClr val="bg1"/>
                </a:solidFill>
                <a:latin typeface="+mn-lt"/>
                <a:sym typeface="Trebuchet MS" panose="020B0603020202020204" pitchFamily="34" charset="0"/>
              </a:rPr>
              <a:t>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38466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29382779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a:t>
            </a:r>
            <a:r>
              <a:rPr lang="en-US" sz="900" b="0" dirty="0" err="1">
                <a:latin typeface="+mn-lt"/>
                <a:sym typeface="Trebuchet MS" panose="020B0603020202020204" pitchFamily="34" charset="0"/>
              </a:rPr>
              <a:t>BlueOcean</a:t>
            </a:r>
            <a:r>
              <a:rPr lang="en-US" sz="900" b="0" dirty="0">
                <a:latin typeface="+mn-lt"/>
                <a:sym typeface="Trebuchet MS" panose="020B0603020202020204" pitchFamily="34" charset="0"/>
              </a:rPr>
              <a:t>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17195030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0" imgH="0" progId="TCLayout.ActiveDocument.1">
                  <p:embed/>
                </p:oleObj>
              </mc:Choice>
              <mc:Fallback>
                <p:oleObj name="think-cell Slide" r:id="rId5" imgW="0" imgH="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a:p>
        </p:txBody>
      </p:sp>
    </p:spTree>
    <p:extLst>
      <p:ext uri="{BB962C8B-B14F-4D97-AF65-F5344CB8AC3E}">
        <p14:creationId xmlns:p14="http://schemas.microsoft.com/office/powerpoint/2010/main" val="40656566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148" name="Slide edge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Tree>
    <p:extLst>
      <p:ext uri="{BB962C8B-B14F-4D97-AF65-F5344CB8AC3E}">
        <p14:creationId xmlns:p14="http://schemas.microsoft.com/office/powerpoint/2010/main" val="33457030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0" imgH="0" progId="TCLayout.ActiveDocument.1">
                  <p:embed/>
                </p:oleObj>
              </mc:Choice>
              <mc:Fallback>
                <p:oleObj name="think-cell Slide" r:id="rId4" imgW="0" imgH="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a:t>
            </a:r>
            <a:r>
              <a:rPr lang="en-US" sz="700" dirty="0" err="1">
                <a:solidFill>
                  <a:schemeClr val="bg1"/>
                </a:solidFill>
                <a:latin typeface="Trebuchet MS" panose="020B0603020202020204" pitchFamily="34" charset="0"/>
                <a:sym typeface="Trebuchet MS" panose="020B0603020202020204" pitchFamily="34" charset="0"/>
              </a:rPr>
              <a:t>BlueOcean</a:t>
            </a:r>
            <a:r>
              <a:rPr lang="en-US" sz="700" dirty="0">
                <a:solidFill>
                  <a:schemeClr val="bg1"/>
                </a:solidFill>
                <a:latin typeface="Trebuchet MS" panose="020B0603020202020204" pitchFamily="34" charset="0"/>
                <a:sym typeface="Trebuchet MS" panose="020B0603020202020204" pitchFamily="34" charset="0"/>
              </a:rPr>
              <a:t>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998561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a:t>
            </a:r>
            <a:r>
              <a:rPr lang="en-US" sz="700" dirty="0" err="1">
                <a:solidFill>
                  <a:schemeClr val="bg1"/>
                </a:solidFill>
                <a:latin typeface="Trebuchet MS" panose="020B0603020202020204" pitchFamily="34" charset="0"/>
                <a:sym typeface="Trebuchet MS" panose="020B0603020202020204" pitchFamily="34" charset="0"/>
              </a:rPr>
              <a:t>BlueOcean</a:t>
            </a:r>
            <a:r>
              <a:rPr lang="en-US" sz="700" dirty="0">
                <a:solidFill>
                  <a:schemeClr val="bg1"/>
                </a:solidFill>
                <a:latin typeface="Trebuchet MS" panose="020B0603020202020204" pitchFamily="34" charset="0"/>
                <a:sym typeface="Trebuchet MS" panose="020B0603020202020204" pitchFamily="34" charset="0"/>
              </a:rPr>
              <a:t>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3453768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a:t>
            </a:r>
            <a:r>
              <a:rPr lang="en-US" sz="700" dirty="0" err="1">
                <a:solidFill>
                  <a:schemeClr val="bg1"/>
                </a:solidFill>
                <a:latin typeface="Trebuchet MS" panose="020B0603020202020204" pitchFamily="34" charset="0"/>
                <a:sym typeface="Trebuchet MS" panose="020B0603020202020204" pitchFamily="34" charset="0"/>
              </a:rPr>
              <a:t>BlueOcean</a:t>
            </a:r>
            <a:r>
              <a:rPr lang="en-US" sz="700" dirty="0">
                <a:solidFill>
                  <a:schemeClr val="bg1"/>
                </a:solidFill>
                <a:latin typeface="Trebuchet MS" panose="020B0603020202020204" pitchFamily="34" charset="0"/>
                <a:sym typeface="Trebuchet MS" panose="020B0603020202020204" pitchFamily="34" charset="0"/>
              </a:rPr>
              <a:t> Consulting Group. All rights reserved.</a:t>
            </a:r>
          </a:p>
        </p:txBody>
      </p:sp>
      <p:sp>
        <p:nvSpPr>
          <p:cNvPr id="10" name="Title 1"/>
          <p:cNvSpPr txBox="1"/>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6377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3784119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0" imgH="0" progId="TCLayout.ActiveDocument.1">
                  <p:embed/>
                </p:oleObj>
              </mc:Choice>
              <mc:Fallback>
                <p:oleObj name="think-cell Slide" r:id="rId4" imgW="0" imgH="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a:t>
            </a:r>
            <a:r>
              <a:rPr lang="en-US" sz="700" dirty="0" err="1">
                <a:solidFill>
                  <a:schemeClr val="bg1">
                    <a:lumMod val="50000"/>
                  </a:schemeClr>
                </a:solidFill>
                <a:latin typeface="Trebuchet MS" panose="020B0603020202020204" pitchFamily="34" charset="0"/>
                <a:sym typeface="Trebuchet MS" panose="020B0603020202020204" pitchFamily="34" charset="0"/>
              </a:rPr>
              <a:t>BlueOcean</a:t>
            </a:r>
            <a:r>
              <a:rPr lang="en-US" sz="700" dirty="0">
                <a:solidFill>
                  <a:schemeClr val="bg1">
                    <a:lumMod val="50000"/>
                  </a:schemeClr>
                </a:solidFill>
                <a:latin typeface="Trebuchet MS" panose="020B0603020202020204" pitchFamily="34" charset="0"/>
                <a:sym typeface="Trebuchet MS" panose="020B0603020202020204" pitchFamily="34" charset="0"/>
              </a:rPr>
              <a:t>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9141170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a:t>
            </a:r>
            <a:r>
              <a:rPr lang="en-US" sz="700" dirty="0" err="1">
                <a:solidFill>
                  <a:schemeClr val="bg1">
                    <a:lumMod val="50000"/>
                  </a:schemeClr>
                </a:solidFill>
                <a:latin typeface="Trebuchet MS" panose="020B0603020202020204" pitchFamily="34" charset="0"/>
                <a:sym typeface="Trebuchet MS" panose="020B0603020202020204" pitchFamily="34" charset="0"/>
              </a:rPr>
              <a:t>BlueOcean</a:t>
            </a:r>
            <a:r>
              <a:rPr lang="en-US" sz="700" dirty="0">
                <a:solidFill>
                  <a:schemeClr val="bg1">
                    <a:lumMod val="50000"/>
                  </a:schemeClr>
                </a:solidFill>
                <a:latin typeface="Trebuchet MS" panose="020B0603020202020204" pitchFamily="34" charset="0"/>
                <a:sym typeface="Trebuchet MS" panose="020B0603020202020204" pitchFamily="34" charset="0"/>
              </a:rPr>
              <a:t>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4488037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2021 by </a:t>
            </a:r>
            <a:r>
              <a:rPr lang="en-US" sz="700" dirty="0" err="1">
                <a:solidFill>
                  <a:schemeClr val="bg1">
                    <a:lumMod val="50000"/>
                  </a:schemeClr>
                </a:solidFill>
                <a:latin typeface="Trebuchet MS" panose="020B0603020202020204" pitchFamily="34" charset="0"/>
                <a:sym typeface="Trebuchet MS" panose="020B0603020202020204" pitchFamily="34" charset="0"/>
              </a:rPr>
              <a:t>BlueOcean</a:t>
            </a:r>
            <a:r>
              <a:rPr lang="en-US" sz="700" dirty="0">
                <a:solidFill>
                  <a:schemeClr val="bg1">
                    <a:lumMod val="50000"/>
                  </a:schemeClr>
                </a:solidFill>
                <a:latin typeface="Trebuchet MS" panose="020B0603020202020204" pitchFamily="34" charset="0"/>
                <a:sym typeface="Trebuchet MS" panose="020B0603020202020204" pitchFamily="34" charset="0"/>
              </a:rPr>
              <a:t> Consulting Group. All rights reserved.</a:t>
            </a:r>
          </a:p>
        </p:txBody>
      </p:sp>
      <p:sp>
        <p:nvSpPr>
          <p:cNvPr id="7" name="Title 1"/>
          <p:cNvSpPr txBox="1"/>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3747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2021 by </a:t>
            </a:r>
            <a:r>
              <a:rPr lang="en-US" sz="700" dirty="0" err="1">
                <a:solidFill>
                  <a:schemeClr val="bg1">
                    <a:lumMod val="50000"/>
                  </a:schemeClr>
                </a:solidFill>
                <a:latin typeface="+mn-lt"/>
                <a:sym typeface="Trebuchet MS" panose="020B0603020202020204" pitchFamily="34" charset="0"/>
              </a:rPr>
              <a:t>BlueOcean</a:t>
            </a:r>
            <a:r>
              <a:rPr lang="en-US" sz="700" dirty="0">
                <a:solidFill>
                  <a:schemeClr val="bg1">
                    <a:lumMod val="50000"/>
                  </a:schemeClr>
                </a:solidFill>
                <a:latin typeface="+mn-lt"/>
                <a:sym typeface="Trebuchet MS" panose="020B0603020202020204" pitchFamily="34" charset="0"/>
              </a:rPr>
              <a:t>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29790927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0" imgH="0" progId="TCLayout.ActiveDocument.1">
                  <p:embed/>
                </p:oleObj>
              </mc:Choice>
              <mc:Fallback>
                <p:oleObj name="think-cell Slide" r:id="rId3" imgW="0" imgH="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2021 by </a:t>
            </a:r>
            <a:r>
              <a:rPr lang="en-US" sz="700" dirty="0" err="1">
                <a:solidFill>
                  <a:schemeClr val="bg1"/>
                </a:solidFill>
                <a:latin typeface="Trebuchet MS" panose="020B0603020202020204" pitchFamily="34" charset="0"/>
                <a:sym typeface="Trebuchet MS" panose="020B0603020202020204" pitchFamily="34" charset="0"/>
              </a:rPr>
              <a:t>BlueOcean</a:t>
            </a:r>
            <a:r>
              <a:rPr lang="en-US" sz="700" dirty="0">
                <a:solidFill>
                  <a:schemeClr val="bg1"/>
                </a:solidFill>
                <a:latin typeface="Trebuchet MS" panose="020B0603020202020204" pitchFamily="34" charset="0"/>
                <a:sym typeface="Trebuchet MS" panose="020B0603020202020204" pitchFamily="34" charset="0"/>
              </a:rPr>
              <a:t>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56192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784C15F-0331-7149-9D4D-4F6EEC27AB0C}" type="datetimeFigureOut">
              <a:rPr lang="en-US" smtClean="0"/>
              <a:t>5/28/26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9C795F9-D8DF-854E-B778-96A5A0EC6885}" type="slidenum">
              <a:rPr lang="en-US" smtClean="0"/>
              <a:t>‹#›</a:t>
            </a:fld>
            <a:endParaRPr lang="en-US"/>
          </a:p>
        </p:txBody>
      </p:sp>
    </p:spTree>
    <p:extLst>
      <p:ext uri="{BB962C8B-B14F-4D97-AF65-F5344CB8AC3E}">
        <p14:creationId xmlns:p14="http://schemas.microsoft.com/office/powerpoint/2010/main" val="41560559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6727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06868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ags" Target="../tags/tag2.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66"/>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67" imgW="0" imgH="0" progId="TCLayout.ActiveDocument.1">
                  <p:embed/>
                </p:oleObj>
              </mc:Choice>
              <mc:Fallback>
                <p:oleObj name="think-cell Slide" r:id="rId67" imgW="0" imgH="0" progId="TCLayout.ActiveDocument.1">
                  <p:embed/>
                  <p:pic>
                    <p:nvPicPr>
                      <p:cNvPr id="2" name="Object 1" hidden="1"/>
                      <p:cNvPicPr/>
                      <p:nvPr/>
                    </p:nvPicPr>
                    <p:blipFill>
                      <a:blip r:embed="rId68"/>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690611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 id="2147483714" r:id="rId38"/>
    <p:sldLayoutId id="2147483715" r:id="rId39"/>
    <p:sldLayoutId id="2147483716" r:id="rId40"/>
    <p:sldLayoutId id="2147483717" r:id="rId41"/>
    <p:sldLayoutId id="2147483718" r:id="rId42"/>
    <p:sldLayoutId id="2147483719" r:id="rId43"/>
    <p:sldLayoutId id="2147483720" r:id="rId44"/>
    <p:sldLayoutId id="2147483721" r:id="rId45"/>
    <p:sldLayoutId id="2147483722" r:id="rId46"/>
    <p:sldLayoutId id="2147483723" r:id="rId47"/>
    <p:sldLayoutId id="2147483724" r:id="rId48"/>
    <p:sldLayoutId id="2147483725" r:id="rId49"/>
    <p:sldLayoutId id="2147483726" r:id="rId50"/>
    <p:sldLayoutId id="2147483727" r:id="rId51"/>
    <p:sldLayoutId id="2147483728" r:id="rId52"/>
    <p:sldLayoutId id="2147483729" r:id="rId53"/>
    <p:sldLayoutId id="2147483730" r:id="rId54"/>
    <p:sldLayoutId id="2147483731" r:id="rId55"/>
    <p:sldLayoutId id="2147483732" r:id="rId56"/>
    <p:sldLayoutId id="2147483733" r:id="rId57"/>
    <p:sldLayoutId id="2147483734" r:id="rId58"/>
    <p:sldLayoutId id="2147483735" r:id="rId59"/>
    <p:sldLayoutId id="2147483736" r:id="rId60"/>
    <p:sldLayoutId id="2147483737" r:id="rId61"/>
    <p:sldLayoutId id="2147483738" r:id="rId62"/>
    <p:sldLayoutId id="2147483740" r:id="rId63"/>
    <p:sldLayoutId id="2147483741" r:id="rId64"/>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80" indent="-172720" algn="l" defTabSz="914400" rtl="0" eaLnBrk="1" latinLnBrk="0" hangingPunct="1">
        <a:lnSpc>
          <a:spcPct val="90000"/>
        </a:lnSpc>
        <a:spcBef>
          <a:spcPts val="0"/>
        </a:spcBef>
        <a:spcAft>
          <a:spcPts val="300"/>
        </a:spcAft>
        <a:buClr>
          <a:schemeClr val="tx2"/>
        </a:buClr>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175" indent="-165735"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7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7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7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7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7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7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0.emf"/><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oleObject" Target="../embeddings/oleObject15.bin"/><Relationship Id="rId5" Type="http://schemas.openxmlformats.org/officeDocument/2006/relationships/slideLayout" Target="../slideLayouts/slideLayout64.xml"/><Relationship Id="rId4" Type="http://schemas.openxmlformats.org/officeDocument/2006/relationships/tags" Target="../tags/tag3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14.png"/><Relationship Id="rId2" Type="http://schemas.openxmlformats.org/officeDocument/2006/relationships/slideLayout" Target="../slideLayouts/slideLayout64.xml"/><Relationship Id="rId1" Type="http://schemas.openxmlformats.org/officeDocument/2006/relationships/tags" Target="../tags/tag3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emf"/></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95018203-E7F4-F928-2E57-7714E5FAF3E8}"/>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6" imgW="7772400" imgH="10058400" progId="TCLayout.ActiveDocument.1">
                  <p:embed/>
                </p:oleObj>
              </mc:Choice>
              <mc:Fallback>
                <p:oleObj name="think-cell Slide" r:id="rId6" imgW="7772400" imgH="10058400" progId="TCLayout.ActiveDocument.1">
                  <p:embed/>
                  <p:pic>
                    <p:nvPicPr>
                      <p:cNvPr id="13" name="think-cell data - do not delete" hidden="1">
                        <a:extLst>
                          <a:ext uri="{FF2B5EF4-FFF2-40B4-BE49-F238E27FC236}">
                            <a16:creationId xmlns:a16="http://schemas.microsoft.com/office/drawing/2014/main" id="{95018203-E7F4-F928-2E57-7714E5FAF3E8}"/>
                          </a:ext>
                        </a:extLst>
                      </p:cNvPr>
                      <p:cNvPicPr/>
                      <p:nvPr/>
                    </p:nvPicPr>
                    <p:blipFill>
                      <a:blip r:embed="rId7"/>
                      <a:stretch>
                        <a:fillRect/>
                      </a:stretch>
                    </p:blipFill>
                    <p:spPr>
                      <a:xfrm>
                        <a:off x="1588" y="1588"/>
                        <a:ext cx="1227" cy="1588"/>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E1C57A04-6129-6475-86F0-9F137804D400}"/>
              </a:ext>
            </a:extLst>
          </p:cNvPr>
          <p:cNvSpPr txBox="1"/>
          <p:nvPr/>
        </p:nvSpPr>
        <p:spPr>
          <a:xfrm>
            <a:off x="1540270" y="3429001"/>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答案可见度</a:t>
            </a:r>
          </a:p>
        </p:txBody>
      </p:sp>
      <p:sp>
        <p:nvSpPr>
          <p:cNvPr id="3" name="TextBox 2">
            <a:extLst>
              <a:ext uri="{FF2B5EF4-FFF2-40B4-BE49-F238E27FC236}">
                <a16:creationId xmlns:a16="http://schemas.microsoft.com/office/drawing/2014/main" id="{34734DCA-236D-826C-02EE-CD0282727925}"/>
              </a:ext>
            </a:extLst>
          </p:cNvPr>
          <p:cNvSpPr txBox="1"/>
          <p:nvPr/>
        </p:nvSpPr>
        <p:spPr>
          <a:xfrm>
            <a:off x="1311670" y="4591379"/>
            <a:ext cx="2358454" cy="107549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i="1" u="sng" dirty="0">
                <a:solidFill>
                  <a:srgbClr val="575757"/>
                </a:solidFill>
              </a:rPr>
              <a:t>「</a:t>
            </a:r>
            <a:r>
              <a:rPr lang="en-CN" i="1" u="sng" dirty="0">
                <a:solidFill>
                  <a:srgbClr val="575757"/>
                </a:solidFill>
              </a:rPr>
              <a:t>品牌的专有词组</a:t>
            </a:r>
            <a:r>
              <a:rPr lang="zh-CN" altLang="en-US" i="1" u="sng" dirty="0">
                <a:solidFill>
                  <a:srgbClr val="575757"/>
                </a:solidFill>
              </a:rPr>
              <a:t>」</a:t>
            </a:r>
            <a:endParaRPr lang="en-US" altLang="zh-CN" i="1" u="sng" dirty="0">
              <a:solidFill>
                <a:srgbClr val="575757"/>
              </a:solidFill>
            </a:endParaRPr>
          </a:p>
          <a:p>
            <a:pPr algn="ctr"/>
            <a:r>
              <a:rPr lang="en-CN" i="1" u="sng" dirty="0">
                <a:solidFill>
                  <a:srgbClr val="575757"/>
                </a:solidFill>
              </a:rPr>
              <a:t>在AI的回答输出中</a:t>
            </a:r>
          </a:p>
          <a:p>
            <a:pPr algn="ctr"/>
            <a:r>
              <a:rPr lang="en-CN" i="1" u="sng" dirty="0">
                <a:solidFill>
                  <a:srgbClr val="575757"/>
                </a:solidFill>
              </a:rPr>
              <a:t>出现的频率</a:t>
            </a:r>
          </a:p>
        </p:txBody>
      </p:sp>
      <p:sp>
        <p:nvSpPr>
          <p:cNvPr id="4" name="TextBox 3">
            <a:extLst>
              <a:ext uri="{FF2B5EF4-FFF2-40B4-BE49-F238E27FC236}">
                <a16:creationId xmlns:a16="http://schemas.microsoft.com/office/drawing/2014/main" id="{AEB44D7F-9393-DF6D-931F-82A1E265327E}"/>
              </a:ext>
            </a:extLst>
          </p:cNvPr>
          <p:cNvSpPr txBox="1"/>
          <p:nvPr/>
        </p:nvSpPr>
        <p:spPr>
          <a:xfrm>
            <a:off x="3712745" y="5775159"/>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endParaRPr lang="en-CN" dirty="0" err="1">
              <a:solidFill>
                <a:srgbClr val="575757"/>
              </a:solidFill>
            </a:endParaRPr>
          </a:p>
        </p:txBody>
      </p:sp>
      <p:sp>
        <p:nvSpPr>
          <p:cNvPr id="5" name="TextBox 4">
            <a:extLst>
              <a:ext uri="{FF2B5EF4-FFF2-40B4-BE49-F238E27FC236}">
                <a16:creationId xmlns:a16="http://schemas.microsoft.com/office/drawing/2014/main" id="{BB56A9B5-FA97-6F0E-5831-49046F875A8B}"/>
              </a:ext>
            </a:extLst>
          </p:cNvPr>
          <p:cNvSpPr txBox="1"/>
          <p:nvPr/>
        </p:nvSpPr>
        <p:spPr>
          <a:xfrm>
            <a:off x="3992039" y="3429000"/>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认知准确度</a:t>
            </a:r>
          </a:p>
        </p:txBody>
      </p:sp>
      <p:sp>
        <p:nvSpPr>
          <p:cNvPr id="6" name="TextBox 5">
            <a:extLst>
              <a:ext uri="{FF2B5EF4-FFF2-40B4-BE49-F238E27FC236}">
                <a16:creationId xmlns:a16="http://schemas.microsoft.com/office/drawing/2014/main" id="{8A2690D8-537E-820E-32D9-09703A0DFF4F}"/>
              </a:ext>
            </a:extLst>
          </p:cNvPr>
          <p:cNvSpPr txBox="1"/>
          <p:nvPr/>
        </p:nvSpPr>
        <p:spPr>
          <a:xfrm>
            <a:off x="6443808" y="3429001"/>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证据纳入度</a:t>
            </a:r>
          </a:p>
        </p:txBody>
      </p:sp>
      <p:sp>
        <p:nvSpPr>
          <p:cNvPr id="7" name="TextBox 6">
            <a:extLst>
              <a:ext uri="{FF2B5EF4-FFF2-40B4-BE49-F238E27FC236}">
                <a16:creationId xmlns:a16="http://schemas.microsoft.com/office/drawing/2014/main" id="{453FBDEF-D8A3-8933-BF01-DC437B391482}"/>
              </a:ext>
            </a:extLst>
          </p:cNvPr>
          <p:cNvSpPr txBox="1"/>
          <p:nvPr/>
        </p:nvSpPr>
        <p:spPr>
          <a:xfrm>
            <a:off x="8895576" y="3429000"/>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推荐转化力</a:t>
            </a:r>
          </a:p>
        </p:txBody>
      </p:sp>
      <p:sp>
        <p:nvSpPr>
          <p:cNvPr id="8" name="TextBox 7">
            <a:extLst>
              <a:ext uri="{FF2B5EF4-FFF2-40B4-BE49-F238E27FC236}">
                <a16:creationId xmlns:a16="http://schemas.microsoft.com/office/drawing/2014/main" id="{034AE1CC-ABB1-568F-A8AE-F4E59D6932D1}"/>
              </a:ext>
            </a:extLst>
          </p:cNvPr>
          <p:cNvSpPr txBox="1"/>
          <p:nvPr/>
        </p:nvSpPr>
        <p:spPr>
          <a:xfrm>
            <a:off x="4267200" y="1066800"/>
            <a:ext cx="3657600" cy="58420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800" b="1" dirty="0">
                <a:solidFill>
                  <a:schemeClr val="tx2"/>
                </a:solidFill>
              </a:rPr>
              <a:t>品牌化GEO四项核心指标</a:t>
            </a:r>
            <a:r>
              <a:rPr lang="zh-CN" altLang="en-US" sz="2800" b="1" dirty="0">
                <a:solidFill>
                  <a:schemeClr val="tx2"/>
                </a:solidFill>
              </a:rPr>
              <a:t>：</a:t>
            </a:r>
            <a:endParaRPr lang="en-CN" sz="2800" b="1" dirty="0">
              <a:solidFill>
                <a:schemeClr val="tx2"/>
              </a:solidFill>
            </a:endParaRPr>
          </a:p>
          <a:p>
            <a:pPr algn="ctr"/>
            <a:r>
              <a:rPr lang="en-CN" sz="2800" b="1" dirty="0">
                <a:solidFill>
                  <a:schemeClr val="tx2"/>
                </a:solidFill>
              </a:rPr>
              <a:t>用户从看见</a:t>
            </a:r>
            <a:r>
              <a:rPr lang="zh-CN" altLang="en-US" sz="2800" b="1" dirty="0">
                <a:solidFill>
                  <a:schemeClr val="tx2"/>
                </a:solidFill>
              </a:rPr>
              <a:t>、认知到信任</a:t>
            </a:r>
            <a:endParaRPr lang="en-CN" sz="2800" b="1" dirty="0">
              <a:solidFill>
                <a:schemeClr val="tx2"/>
              </a:solidFill>
            </a:endParaRPr>
          </a:p>
        </p:txBody>
      </p:sp>
      <p:sp>
        <p:nvSpPr>
          <p:cNvPr id="9" name="TextBox 8">
            <a:extLst>
              <a:ext uri="{FF2B5EF4-FFF2-40B4-BE49-F238E27FC236}">
                <a16:creationId xmlns:a16="http://schemas.microsoft.com/office/drawing/2014/main" id="{DF3B39CA-4E93-ECE5-C509-762E319B2A30}"/>
              </a:ext>
            </a:extLst>
          </p:cNvPr>
          <p:cNvSpPr txBox="1"/>
          <p:nvPr/>
        </p:nvSpPr>
        <p:spPr>
          <a:xfrm>
            <a:off x="3682481" y="4591379"/>
            <a:ext cx="2358454" cy="107549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altLang="zh-CN" i="1" u="sng" dirty="0">
                <a:solidFill>
                  <a:srgbClr val="575757"/>
                </a:solidFill>
              </a:rPr>
              <a:t>AI</a:t>
            </a:r>
            <a:r>
              <a:rPr lang="zh-CN" altLang="en-CN" i="1" u="sng" dirty="0">
                <a:solidFill>
                  <a:srgbClr val="575757"/>
                </a:solidFill>
              </a:rPr>
              <a:t>是否</a:t>
            </a:r>
            <a:r>
              <a:rPr lang="zh-CN" altLang="en-US" i="1" u="sng" dirty="0">
                <a:solidFill>
                  <a:srgbClr val="575757"/>
                </a:solidFill>
              </a:rPr>
              <a:t>准确理解</a:t>
            </a:r>
            <a:endParaRPr lang="en-US" altLang="zh-CN" i="1" u="sng" dirty="0">
              <a:solidFill>
                <a:srgbClr val="575757"/>
              </a:solidFill>
            </a:endParaRPr>
          </a:p>
          <a:p>
            <a:pPr algn="ctr"/>
            <a:r>
              <a:rPr lang="zh-CN" altLang="en-US" i="1" u="sng" dirty="0">
                <a:solidFill>
                  <a:srgbClr val="575757"/>
                </a:solidFill>
              </a:rPr>
              <a:t>品牌资产</a:t>
            </a:r>
            <a:endParaRPr lang="en-CN" i="1" u="sng" dirty="0">
              <a:solidFill>
                <a:srgbClr val="575757"/>
              </a:solidFill>
            </a:endParaRPr>
          </a:p>
        </p:txBody>
      </p:sp>
      <p:sp>
        <p:nvSpPr>
          <p:cNvPr id="10" name="TextBox 9">
            <a:extLst>
              <a:ext uri="{FF2B5EF4-FFF2-40B4-BE49-F238E27FC236}">
                <a16:creationId xmlns:a16="http://schemas.microsoft.com/office/drawing/2014/main" id="{AF47C5E0-81F4-7360-3C94-4EEC7287B6C4}"/>
              </a:ext>
            </a:extLst>
          </p:cNvPr>
          <p:cNvSpPr txBox="1"/>
          <p:nvPr/>
        </p:nvSpPr>
        <p:spPr>
          <a:xfrm>
            <a:off x="6049124" y="4591379"/>
            <a:ext cx="2358454" cy="107549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i="1" u="sng" dirty="0">
                <a:solidFill>
                  <a:srgbClr val="575757"/>
                </a:solidFill>
              </a:rPr>
              <a:t>AI收录的信息源</a:t>
            </a:r>
          </a:p>
          <a:p>
            <a:pPr algn="ctr"/>
            <a:r>
              <a:rPr lang="en-CN" i="1" u="sng" dirty="0">
                <a:solidFill>
                  <a:srgbClr val="575757"/>
                </a:solidFill>
              </a:rPr>
              <a:t>有多少噪音</a:t>
            </a:r>
            <a:r>
              <a:rPr lang="zh-CN" altLang="en-US" i="1" u="sng" dirty="0">
                <a:solidFill>
                  <a:srgbClr val="575757"/>
                </a:solidFill>
              </a:rPr>
              <a:t>？</a:t>
            </a:r>
            <a:endParaRPr lang="en-US" altLang="zh-CN" i="1" u="sng" dirty="0">
              <a:solidFill>
                <a:srgbClr val="575757"/>
              </a:solidFill>
            </a:endParaRPr>
          </a:p>
          <a:p>
            <a:pPr algn="ctr"/>
            <a:r>
              <a:rPr lang="en-CN" i="1" u="sng" dirty="0">
                <a:solidFill>
                  <a:srgbClr val="575757"/>
                </a:solidFill>
              </a:rPr>
              <a:t>关键品牌资产</a:t>
            </a:r>
          </a:p>
          <a:p>
            <a:pPr algn="ctr"/>
            <a:r>
              <a:rPr lang="en-CN" i="1" u="sng" dirty="0">
                <a:solidFill>
                  <a:srgbClr val="575757"/>
                </a:solidFill>
              </a:rPr>
              <a:t>收录情况</a:t>
            </a:r>
            <a:r>
              <a:rPr lang="zh-CN" altLang="en-US" i="1" u="sng" dirty="0">
                <a:solidFill>
                  <a:srgbClr val="575757"/>
                </a:solidFill>
              </a:rPr>
              <a:t>？</a:t>
            </a:r>
            <a:endParaRPr lang="en-CN" i="1" u="sng" dirty="0">
              <a:solidFill>
                <a:srgbClr val="575757"/>
              </a:solidFill>
            </a:endParaRPr>
          </a:p>
        </p:txBody>
      </p:sp>
      <p:sp>
        <p:nvSpPr>
          <p:cNvPr id="11" name="TextBox 10">
            <a:extLst>
              <a:ext uri="{FF2B5EF4-FFF2-40B4-BE49-F238E27FC236}">
                <a16:creationId xmlns:a16="http://schemas.microsoft.com/office/drawing/2014/main" id="{C33CD7FD-17A8-C6D7-2709-7F1549EBD200}"/>
              </a:ext>
            </a:extLst>
          </p:cNvPr>
          <p:cNvSpPr txBox="1"/>
          <p:nvPr/>
        </p:nvSpPr>
        <p:spPr>
          <a:xfrm>
            <a:off x="8738418" y="4591379"/>
            <a:ext cx="2358454" cy="107549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i="1" u="sng" dirty="0">
                <a:solidFill>
                  <a:srgbClr val="575757"/>
                </a:solidFill>
              </a:rPr>
              <a:t>AI收录后</a:t>
            </a:r>
            <a:r>
              <a:rPr lang="zh-CN" altLang="en-US" i="1" u="sng" dirty="0">
                <a:solidFill>
                  <a:srgbClr val="575757"/>
                </a:solidFill>
              </a:rPr>
              <a:t>，</a:t>
            </a:r>
            <a:endParaRPr lang="en-US" altLang="zh-CN" i="1" u="sng" dirty="0">
              <a:solidFill>
                <a:srgbClr val="575757"/>
              </a:solidFill>
            </a:endParaRPr>
          </a:p>
          <a:p>
            <a:pPr algn="ctr"/>
            <a:r>
              <a:rPr lang="en-CN" i="1" u="sng" dirty="0">
                <a:solidFill>
                  <a:srgbClr val="575757"/>
                </a:solidFill>
              </a:rPr>
              <a:t>说的是好话还是坏话</a:t>
            </a:r>
            <a:r>
              <a:rPr lang="zh-CN" altLang="en-US" i="1" u="sng" dirty="0">
                <a:solidFill>
                  <a:srgbClr val="575757"/>
                </a:solidFill>
              </a:rPr>
              <a:t>？</a:t>
            </a:r>
            <a:endParaRPr lang="en-US" altLang="zh-CN" i="1" u="sng" dirty="0">
              <a:solidFill>
                <a:srgbClr val="575757"/>
              </a:solidFill>
            </a:endParaRPr>
          </a:p>
          <a:p>
            <a:pPr algn="ctr"/>
            <a:r>
              <a:rPr lang="en-CN" i="1" u="sng" dirty="0">
                <a:solidFill>
                  <a:srgbClr val="575757"/>
                </a:solidFill>
              </a:rPr>
              <a:t>评价中肯吗</a:t>
            </a:r>
            <a:r>
              <a:rPr lang="zh-CN" altLang="en-US" i="1" u="sng" dirty="0">
                <a:solidFill>
                  <a:srgbClr val="575757"/>
                </a:solidFill>
              </a:rPr>
              <a:t>？</a:t>
            </a:r>
            <a:endParaRPr lang="en-US" altLang="zh-CN" i="1" u="sng" dirty="0">
              <a:solidFill>
                <a:srgbClr val="575757"/>
              </a:solidFill>
            </a:endParaRPr>
          </a:p>
          <a:p>
            <a:pPr algn="ctr"/>
            <a:r>
              <a:rPr lang="zh-CN" altLang="en-US" i="1" u="sng" dirty="0">
                <a:solidFill>
                  <a:srgbClr val="575757"/>
                </a:solidFill>
              </a:rPr>
              <a:t>会劝退顾客吗？</a:t>
            </a:r>
            <a:endParaRPr lang="en-CN" i="1" u="sng" dirty="0">
              <a:solidFill>
                <a:srgbClr val="575757"/>
              </a:solidFill>
            </a:endParaRPr>
          </a:p>
        </p:txBody>
      </p:sp>
      <p:sp>
        <p:nvSpPr>
          <p:cNvPr id="12" name="Text Placeholder 3">
            <a:extLst>
              <a:ext uri="{FF2B5EF4-FFF2-40B4-BE49-F238E27FC236}">
                <a16:creationId xmlns:a16="http://schemas.microsoft.com/office/drawing/2014/main" id="{A9AFF660-7927-159B-8845-0AC996EDF82D}"/>
              </a:ext>
            </a:extLst>
          </p:cNvPr>
          <p:cNvSpPr txBox="1">
            <a:spLocks/>
          </p:cNvSpPr>
          <p:nvPr>
            <p:custDataLst>
              <p:tags r:id="rId2"/>
            </p:custDataLst>
          </p:nvPr>
        </p:nvSpPr>
        <p:spPr bwMode="auto">
          <a:xfrm>
            <a:off x="1539875" y="2352675"/>
            <a:ext cx="2887663" cy="620713"/>
          </a:xfrm>
          <a:prstGeom prst="homePlate">
            <a:avLst>
              <a:gd name="adj" fmla="val 18414"/>
            </a:avLst>
          </a:prstGeom>
          <a:solidFill>
            <a:schemeClr val="accent4"/>
          </a:solidFill>
          <a:ln w="9525" cmpd="sng">
            <a:noFill/>
          </a:ln>
          <a:effectLst/>
        </p:spPr>
        <p:txBody>
          <a:bodyPr vert="horz" wrap="none" lIns="55563" tIns="160338" rIns="0" bIns="158750" rtlCol="0" anchor="ctr">
            <a:noAutofit/>
          </a:bodyPr>
          <a:lstStyle>
            <a:lvl1pPr marL="0" indent="0" algn="l" defTabSz="914400" rtl="0" eaLnBrk="1" latinLnBrk="0" hangingPunct="1">
              <a:lnSpc>
                <a:spcPct val="110000"/>
              </a:lnSpc>
              <a:spcBef>
                <a:spcPts val="600"/>
              </a:spcBef>
              <a:spcAft>
                <a:spcPts val="300"/>
              </a:spcAft>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80" indent="-172720" algn="l" defTabSz="914400" rtl="0" eaLnBrk="1" latinLnBrk="0" hangingPunct="1">
              <a:lnSpc>
                <a:spcPct val="90000"/>
              </a:lnSpc>
              <a:spcBef>
                <a:spcPts val="0"/>
              </a:spcBef>
              <a:spcAft>
                <a:spcPts val="300"/>
              </a:spcAft>
              <a:buClr>
                <a:schemeClr val="tx2"/>
              </a:buClr>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175" indent="-165735"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7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7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7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7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7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7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r>
              <a:rPr lang="en-GB" sz="1800" b="1" dirty="0">
                <a:solidFill>
                  <a:schemeClr val="bg1"/>
                </a:solidFill>
              </a:rPr>
              <a:t>找得到</a:t>
            </a:r>
          </a:p>
        </p:txBody>
      </p:sp>
      <p:sp>
        <p:nvSpPr>
          <p:cNvPr id="14" name="Text Placeholder 3">
            <a:extLst>
              <a:ext uri="{FF2B5EF4-FFF2-40B4-BE49-F238E27FC236}">
                <a16:creationId xmlns:a16="http://schemas.microsoft.com/office/drawing/2014/main" id="{0242D5E2-7C2D-51C1-5018-B999A8D2AE5E}"/>
              </a:ext>
            </a:extLst>
          </p:cNvPr>
          <p:cNvSpPr txBox="1">
            <a:spLocks/>
          </p:cNvSpPr>
          <p:nvPr>
            <p:custDataLst>
              <p:tags r:id="rId3"/>
            </p:custDataLst>
          </p:nvPr>
        </p:nvSpPr>
        <p:spPr bwMode="auto">
          <a:xfrm>
            <a:off x="4427538" y="2352675"/>
            <a:ext cx="3160713" cy="620713"/>
          </a:xfrm>
          <a:prstGeom prst="homePlate">
            <a:avLst>
              <a:gd name="adj" fmla="val 18159"/>
            </a:avLst>
          </a:prstGeom>
          <a:solidFill>
            <a:schemeClr val="accent1"/>
          </a:solidFill>
          <a:ln w="9525" cmpd="sng">
            <a:noFill/>
          </a:ln>
          <a:effectLst/>
        </p:spPr>
        <p:txBody>
          <a:bodyPr vert="horz" wrap="none" lIns="53975" tIns="160338" rIns="0" bIns="158750" rtlCol="0" anchor="ctr">
            <a:noAutofit/>
          </a:bodyPr>
          <a:lstStyle>
            <a:lvl1pPr marL="0" indent="0" algn="l" defTabSz="914400" rtl="0" eaLnBrk="1" latinLnBrk="0" hangingPunct="1">
              <a:lnSpc>
                <a:spcPct val="110000"/>
              </a:lnSpc>
              <a:spcBef>
                <a:spcPts val="600"/>
              </a:spcBef>
              <a:spcAft>
                <a:spcPts val="300"/>
              </a:spcAft>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80" indent="-172720" algn="l" defTabSz="914400" rtl="0" eaLnBrk="1" latinLnBrk="0" hangingPunct="1">
              <a:lnSpc>
                <a:spcPct val="90000"/>
              </a:lnSpc>
              <a:spcBef>
                <a:spcPts val="0"/>
              </a:spcBef>
              <a:spcAft>
                <a:spcPts val="300"/>
              </a:spcAft>
              <a:buClr>
                <a:schemeClr val="tx2"/>
              </a:buClr>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175" indent="-165735"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7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7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7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7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7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7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r>
              <a:rPr lang="en-GB" sz="1800" b="1" dirty="0" err="1">
                <a:solidFill>
                  <a:schemeClr val="bg1"/>
                </a:solidFill>
              </a:rPr>
              <a:t>说得对</a:t>
            </a:r>
            <a:endParaRPr lang="en-GB" sz="1800" b="1" dirty="0">
              <a:solidFill>
                <a:schemeClr val="bg1"/>
              </a:solidFill>
            </a:endParaRPr>
          </a:p>
        </p:txBody>
      </p:sp>
      <p:sp>
        <p:nvSpPr>
          <p:cNvPr id="15" name="Text Placeholder 3">
            <a:extLst>
              <a:ext uri="{FF2B5EF4-FFF2-40B4-BE49-F238E27FC236}">
                <a16:creationId xmlns:a16="http://schemas.microsoft.com/office/drawing/2014/main" id="{33EE8497-26E5-BF1A-A8E7-B1345C87B8B9}"/>
              </a:ext>
            </a:extLst>
          </p:cNvPr>
          <p:cNvSpPr txBox="1">
            <a:spLocks/>
          </p:cNvSpPr>
          <p:nvPr>
            <p:custDataLst>
              <p:tags r:id="rId4"/>
            </p:custDataLst>
          </p:nvPr>
        </p:nvSpPr>
        <p:spPr bwMode="auto">
          <a:xfrm>
            <a:off x="7588250" y="2352675"/>
            <a:ext cx="3160713" cy="620713"/>
          </a:xfrm>
          <a:prstGeom prst="homePlate">
            <a:avLst>
              <a:gd name="adj" fmla="val 18159"/>
            </a:avLst>
          </a:prstGeom>
          <a:solidFill>
            <a:schemeClr val="accent3"/>
          </a:solidFill>
          <a:ln w="9525" cmpd="sng">
            <a:noFill/>
          </a:ln>
          <a:effectLst/>
        </p:spPr>
        <p:txBody>
          <a:bodyPr vert="horz" wrap="none" lIns="53975" tIns="160338" rIns="0" bIns="158750" rtlCol="0" anchor="ctr">
            <a:noAutofit/>
          </a:bodyPr>
          <a:lstStyle>
            <a:lvl1pPr marL="0" indent="0" algn="l" defTabSz="914400" rtl="0" eaLnBrk="1" latinLnBrk="0" hangingPunct="1">
              <a:lnSpc>
                <a:spcPct val="110000"/>
              </a:lnSpc>
              <a:spcBef>
                <a:spcPts val="600"/>
              </a:spcBef>
              <a:spcAft>
                <a:spcPts val="300"/>
              </a:spcAft>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80" indent="-172720" algn="l" defTabSz="914400" rtl="0" eaLnBrk="1" latinLnBrk="0" hangingPunct="1">
              <a:lnSpc>
                <a:spcPct val="90000"/>
              </a:lnSpc>
              <a:spcBef>
                <a:spcPts val="0"/>
              </a:spcBef>
              <a:spcAft>
                <a:spcPts val="300"/>
              </a:spcAft>
              <a:buClr>
                <a:schemeClr val="tx2"/>
              </a:buClr>
              <a:buFont typeface="Arial" panose="020B07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175" indent="-165735"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7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7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7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7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7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7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r>
              <a:rPr lang="en-GB" sz="1800" b="1" dirty="0" err="1"/>
              <a:t>愿推荐</a:t>
            </a:r>
            <a:endParaRPr lang="en-GB" sz="1800" b="1" dirty="0"/>
          </a:p>
        </p:txBody>
      </p:sp>
    </p:spTree>
    <p:extLst>
      <p:ext uri="{BB962C8B-B14F-4D97-AF65-F5344CB8AC3E}">
        <p14:creationId xmlns:p14="http://schemas.microsoft.com/office/powerpoint/2010/main" val="286427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77732-423C-1062-1E64-C5C4565B7981}"/>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2ED060BE-EEDA-1B34-550C-E3768DA52CBF}"/>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2ED060BE-EEDA-1B34-550C-E3768DA52CB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5" name="Rectangle 54">
            <a:extLst>
              <a:ext uri="{FF2B5EF4-FFF2-40B4-BE49-F238E27FC236}">
                <a16:creationId xmlns:a16="http://schemas.microsoft.com/office/drawing/2014/main" id="{E78F2D6F-5DCE-2FAC-830A-88CFC162A921}"/>
              </a:ext>
            </a:extLst>
          </p:cNvPr>
          <p:cNvSpPr/>
          <p:nvPr/>
        </p:nvSpPr>
        <p:spPr>
          <a:xfrm>
            <a:off x="406400" y="5537200"/>
            <a:ext cx="11379200" cy="1231900"/>
          </a:xfrm>
          <a:prstGeom prst="rect">
            <a:avLst/>
          </a:prstGeom>
          <a:solidFill>
            <a:srgbClr val="D9D9D9"/>
          </a:solidFill>
          <a:ln w="9525" cap="rnd" cmpd="sng" algn="ctr">
            <a:solidFill>
              <a:srgbClr val="000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en-GB" sz="1200" dirty="0">
              <a:solidFill>
                <a:srgbClr val="FFFFFF"/>
              </a:solidFill>
            </a:endParaRPr>
          </a:p>
        </p:txBody>
      </p:sp>
      <p:sp>
        <p:nvSpPr>
          <p:cNvPr id="47" name="TextBox 46">
            <a:extLst>
              <a:ext uri="{FF2B5EF4-FFF2-40B4-BE49-F238E27FC236}">
                <a16:creationId xmlns:a16="http://schemas.microsoft.com/office/drawing/2014/main" id="{7B9B962C-44DB-0A3C-47B9-9B110C083A04}"/>
              </a:ext>
            </a:extLst>
          </p:cNvPr>
          <p:cNvSpPr txBox="1"/>
          <p:nvPr/>
        </p:nvSpPr>
        <p:spPr>
          <a:xfrm>
            <a:off x="7251534" y="2334391"/>
            <a:ext cx="2974056" cy="3075809"/>
          </a:xfrm>
          <a:prstGeom prst="rect">
            <a:avLst/>
          </a:prstGeom>
          <a:solidFill>
            <a:schemeClr val="accent3"/>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400" b="1" dirty="0">
                <a:solidFill>
                  <a:srgbClr val="575757"/>
                </a:solidFill>
              </a:rPr>
              <a:t>月度监测</a:t>
            </a:r>
            <a:endParaRPr lang="en-US" altLang="zh-CN" sz="2400" b="1" dirty="0">
              <a:solidFill>
                <a:srgbClr val="575757"/>
              </a:solidFill>
            </a:endParaRPr>
          </a:p>
          <a:p>
            <a:pPr algn="ctr"/>
            <a:r>
              <a:rPr lang="en-CN" sz="2400" b="1" dirty="0">
                <a:solidFill>
                  <a:srgbClr val="575757"/>
                </a:solidFill>
              </a:rPr>
              <a:t>获取回答</a:t>
            </a:r>
          </a:p>
        </p:txBody>
      </p:sp>
      <p:sp>
        <p:nvSpPr>
          <p:cNvPr id="2" name="TextBox 1">
            <a:extLst>
              <a:ext uri="{FF2B5EF4-FFF2-40B4-BE49-F238E27FC236}">
                <a16:creationId xmlns:a16="http://schemas.microsoft.com/office/drawing/2014/main" id="{83ED4906-216D-4618-7F2D-A65A184F992D}"/>
              </a:ext>
            </a:extLst>
          </p:cNvPr>
          <p:cNvSpPr txBox="1"/>
          <p:nvPr/>
        </p:nvSpPr>
        <p:spPr>
          <a:xfrm>
            <a:off x="4050250" y="872863"/>
            <a:ext cx="2870726"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CN" sz="2400" b="1" dirty="0">
                <a:solidFill>
                  <a:srgbClr val="575757"/>
                </a:solidFill>
              </a:rPr>
              <a:t>业务场景A</a:t>
            </a:r>
          </a:p>
        </p:txBody>
      </p:sp>
      <p:sp>
        <p:nvSpPr>
          <p:cNvPr id="38" name="TextBox 37">
            <a:extLst>
              <a:ext uri="{FF2B5EF4-FFF2-40B4-BE49-F238E27FC236}">
                <a16:creationId xmlns:a16="http://schemas.microsoft.com/office/drawing/2014/main" id="{60046BE3-5C79-A761-D8EE-8DC0BCC65321}"/>
              </a:ext>
            </a:extLst>
          </p:cNvPr>
          <p:cNvSpPr txBox="1"/>
          <p:nvPr/>
        </p:nvSpPr>
        <p:spPr>
          <a:xfrm>
            <a:off x="4050251" y="1646535"/>
            <a:ext cx="991650"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US" sz="2400" b="1">
                <a:solidFill>
                  <a:srgbClr val="575757"/>
                </a:solidFill>
              </a:rPr>
              <a:t>问题</a:t>
            </a:r>
            <a:r>
              <a:rPr lang="en-US" altLang="zh-CN" sz="2400" b="1" dirty="0">
                <a:solidFill>
                  <a:srgbClr val="575757"/>
                </a:solidFill>
              </a:rPr>
              <a:t>1</a:t>
            </a:r>
            <a:endParaRPr lang="en-CN" sz="2400" b="1" dirty="0">
              <a:solidFill>
                <a:srgbClr val="575757"/>
              </a:solidFill>
            </a:endParaRPr>
          </a:p>
        </p:txBody>
      </p:sp>
      <p:sp>
        <p:nvSpPr>
          <p:cNvPr id="6" name="TextBox 5">
            <a:extLst>
              <a:ext uri="{FF2B5EF4-FFF2-40B4-BE49-F238E27FC236}">
                <a16:creationId xmlns:a16="http://schemas.microsoft.com/office/drawing/2014/main" id="{07D2A967-910B-0B2F-DDD9-90BEED150390}"/>
              </a:ext>
            </a:extLst>
          </p:cNvPr>
          <p:cNvSpPr txBox="1"/>
          <p:nvPr/>
        </p:nvSpPr>
        <p:spPr>
          <a:xfrm>
            <a:off x="4184650" y="101600"/>
            <a:ext cx="4940300" cy="58420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800" b="1" dirty="0">
                <a:solidFill>
                  <a:schemeClr val="tx2"/>
                </a:solidFill>
              </a:rPr>
              <a:t>GSP的品牌化GEO评估体系</a:t>
            </a:r>
            <a:r>
              <a:rPr lang="zh-CN" altLang="en-US" sz="2800" b="1" dirty="0">
                <a:solidFill>
                  <a:schemeClr val="tx2"/>
                </a:solidFill>
              </a:rPr>
              <a:t>：按照业务场景拆分，定期监测问题集</a:t>
            </a:r>
            <a:endParaRPr lang="en-CN" sz="2800" b="1" dirty="0">
              <a:solidFill>
                <a:schemeClr val="tx2"/>
              </a:solidFill>
            </a:endParaRPr>
          </a:p>
        </p:txBody>
      </p:sp>
      <p:sp>
        <p:nvSpPr>
          <p:cNvPr id="7" name="TextBox 6">
            <a:extLst>
              <a:ext uri="{FF2B5EF4-FFF2-40B4-BE49-F238E27FC236}">
                <a16:creationId xmlns:a16="http://schemas.microsoft.com/office/drawing/2014/main" id="{5AEEEB06-4110-CCCD-A9BE-E75AFE027B49}"/>
              </a:ext>
            </a:extLst>
          </p:cNvPr>
          <p:cNvSpPr txBox="1"/>
          <p:nvPr/>
        </p:nvSpPr>
        <p:spPr>
          <a:xfrm>
            <a:off x="3946920" y="2334391"/>
            <a:ext cx="2974056" cy="3075809"/>
          </a:xfrm>
          <a:prstGeom prst="rect">
            <a:avLst/>
          </a:prstGeom>
          <a:solidFill>
            <a:schemeClr val="accent3"/>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400" b="1" dirty="0">
                <a:solidFill>
                  <a:srgbClr val="575757"/>
                </a:solidFill>
              </a:rPr>
              <a:t>月度监测</a:t>
            </a:r>
            <a:endParaRPr lang="en-US" altLang="zh-CN" sz="2400" b="1" dirty="0">
              <a:solidFill>
                <a:srgbClr val="575757"/>
              </a:solidFill>
            </a:endParaRPr>
          </a:p>
          <a:p>
            <a:pPr algn="ctr"/>
            <a:r>
              <a:rPr lang="en-CN" sz="2400" b="1" dirty="0">
                <a:solidFill>
                  <a:srgbClr val="575757"/>
                </a:solidFill>
              </a:rPr>
              <a:t>获取回答</a:t>
            </a:r>
          </a:p>
        </p:txBody>
      </p:sp>
      <p:pic>
        <p:nvPicPr>
          <p:cNvPr id="21" name="Picture 20">
            <a:extLst>
              <a:ext uri="{FF2B5EF4-FFF2-40B4-BE49-F238E27FC236}">
                <a16:creationId xmlns:a16="http://schemas.microsoft.com/office/drawing/2014/main" id="{4E4525E4-FC90-B8FA-2D03-CE4ED1BC1CFC}"/>
              </a:ext>
            </a:extLst>
          </p:cNvPr>
          <p:cNvPicPr>
            <a:picLocks noChangeAspect="1"/>
          </p:cNvPicPr>
          <p:nvPr/>
        </p:nvPicPr>
        <p:blipFill>
          <a:blip r:embed="rId5"/>
          <a:stretch>
            <a:fillRect/>
          </a:stretch>
        </p:blipFill>
        <p:spPr>
          <a:xfrm>
            <a:off x="905270" y="3500138"/>
            <a:ext cx="2818012" cy="925773"/>
          </a:xfrm>
          <a:prstGeom prst="rect">
            <a:avLst/>
          </a:prstGeom>
        </p:spPr>
      </p:pic>
      <p:pic>
        <p:nvPicPr>
          <p:cNvPr id="36" name="Picture 35">
            <a:extLst>
              <a:ext uri="{FF2B5EF4-FFF2-40B4-BE49-F238E27FC236}">
                <a16:creationId xmlns:a16="http://schemas.microsoft.com/office/drawing/2014/main" id="{245B011F-80EA-EB7C-CA9D-2217268316BF}"/>
              </a:ext>
            </a:extLst>
          </p:cNvPr>
          <p:cNvPicPr>
            <a:picLocks noChangeAspect="1"/>
          </p:cNvPicPr>
          <p:nvPr/>
        </p:nvPicPr>
        <p:blipFill>
          <a:blip r:embed="rId6"/>
          <a:stretch>
            <a:fillRect/>
          </a:stretch>
        </p:blipFill>
        <p:spPr>
          <a:xfrm>
            <a:off x="1145268" y="4588261"/>
            <a:ext cx="1949450" cy="948939"/>
          </a:xfrm>
          <a:prstGeom prst="rect">
            <a:avLst/>
          </a:prstGeom>
        </p:spPr>
      </p:pic>
      <p:pic>
        <p:nvPicPr>
          <p:cNvPr id="37" name="Picture 36">
            <a:extLst>
              <a:ext uri="{FF2B5EF4-FFF2-40B4-BE49-F238E27FC236}">
                <a16:creationId xmlns:a16="http://schemas.microsoft.com/office/drawing/2014/main" id="{02408489-6A51-D240-10E7-2729C737FB07}"/>
              </a:ext>
            </a:extLst>
          </p:cNvPr>
          <p:cNvPicPr>
            <a:picLocks noChangeAspect="1"/>
          </p:cNvPicPr>
          <p:nvPr/>
        </p:nvPicPr>
        <p:blipFill>
          <a:blip r:embed="rId7"/>
          <a:stretch>
            <a:fillRect/>
          </a:stretch>
        </p:blipFill>
        <p:spPr>
          <a:xfrm>
            <a:off x="1145268" y="2389460"/>
            <a:ext cx="2338016" cy="948328"/>
          </a:xfrm>
          <a:prstGeom prst="rect">
            <a:avLst/>
          </a:prstGeom>
        </p:spPr>
      </p:pic>
      <p:sp>
        <p:nvSpPr>
          <p:cNvPr id="39" name="TextBox 38">
            <a:extLst>
              <a:ext uri="{FF2B5EF4-FFF2-40B4-BE49-F238E27FC236}">
                <a16:creationId xmlns:a16="http://schemas.microsoft.com/office/drawing/2014/main" id="{E1187494-1285-111A-5748-016113F7431B}"/>
              </a:ext>
            </a:extLst>
          </p:cNvPr>
          <p:cNvSpPr txBox="1"/>
          <p:nvPr/>
        </p:nvSpPr>
        <p:spPr>
          <a:xfrm>
            <a:off x="5143585" y="1646535"/>
            <a:ext cx="455458"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US" altLang="zh-CN" sz="2400" b="1" dirty="0">
                <a:solidFill>
                  <a:srgbClr val="575757"/>
                </a:solidFill>
              </a:rPr>
              <a:t>…</a:t>
            </a:r>
            <a:endParaRPr lang="en-CN" sz="2400" b="1" dirty="0">
              <a:solidFill>
                <a:srgbClr val="575757"/>
              </a:solidFill>
            </a:endParaRPr>
          </a:p>
        </p:txBody>
      </p:sp>
      <p:sp>
        <p:nvSpPr>
          <p:cNvPr id="41" name="TextBox 40">
            <a:extLst>
              <a:ext uri="{FF2B5EF4-FFF2-40B4-BE49-F238E27FC236}">
                <a16:creationId xmlns:a16="http://schemas.microsoft.com/office/drawing/2014/main" id="{E2B284EB-E663-0826-39CA-8A61678211D0}"/>
              </a:ext>
            </a:extLst>
          </p:cNvPr>
          <p:cNvSpPr txBox="1"/>
          <p:nvPr/>
        </p:nvSpPr>
        <p:spPr>
          <a:xfrm>
            <a:off x="5700727" y="1646535"/>
            <a:ext cx="1220249"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US" sz="2400" b="1" dirty="0">
                <a:solidFill>
                  <a:srgbClr val="575757"/>
                </a:solidFill>
              </a:rPr>
              <a:t>问题</a:t>
            </a:r>
            <a:r>
              <a:rPr lang="en-US" altLang="zh-CN" sz="2400" b="1" dirty="0">
                <a:solidFill>
                  <a:srgbClr val="575757"/>
                </a:solidFill>
              </a:rPr>
              <a:t>60</a:t>
            </a:r>
            <a:endParaRPr lang="en-CN" sz="2400" b="1" dirty="0">
              <a:solidFill>
                <a:srgbClr val="575757"/>
              </a:solidFill>
            </a:endParaRPr>
          </a:p>
        </p:txBody>
      </p:sp>
      <p:cxnSp>
        <p:nvCxnSpPr>
          <p:cNvPr id="43" name="Straight Connector 42">
            <a:extLst>
              <a:ext uri="{FF2B5EF4-FFF2-40B4-BE49-F238E27FC236}">
                <a16:creationId xmlns:a16="http://schemas.microsoft.com/office/drawing/2014/main" id="{B5169A2F-62B7-E8C1-E2C4-CD0AC766CE21}"/>
              </a:ext>
            </a:extLst>
          </p:cNvPr>
          <p:cNvCxnSpPr/>
          <p:nvPr/>
        </p:nvCxnSpPr>
        <p:spPr>
          <a:xfrm>
            <a:off x="609600" y="3337788"/>
            <a:ext cx="10871200" cy="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0532A73-886F-E781-E409-B91F42CE50DB}"/>
              </a:ext>
            </a:extLst>
          </p:cNvPr>
          <p:cNvCxnSpPr/>
          <p:nvPr/>
        </p:nvCxnSpPr>
        <p:spPr>
          <a:xfrm>
            <a:off x="609600" y="4425911"/>
            <a:ext cx="10871200" cy="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2BB239B-763B-E2EB-3BCB-7105C0C9D14D}"/>
              </a:ext>
            </a:extLst>
          </p:cNvPr>
          <p:cNvSpPr txBox="1"/>
          <p:nvPr/>
        </p:nvSpPr>
        <p:spPr>
          <a:xfrm>
            <a:off x="7354864" y="872863"/>
            <a:ext cx="2870726"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CN" sz="2400" b="1" dirty="0">
                <a:solidFill>
                  <a:srgbClr val="575757"/>
                </a:solidFill>
              </a:rPr>
              <a:t>业务场景B</a:t>
            </a:r>
          </a:p>
        </p:txBody>
      </p:sp>
      <p:sp>
        <p:nvSpPr>
          <p:cNvPr id="46" name="TextBox 45">
            <a:extLst>
              <a:ext uri="{FF2B5EF4-FFF2-40B4-BE49-F238E27FC236}">
                <a16:creationId xmlns:a16="http://schemas.microsoft.com/office/drawing/2014/main" id="{22BB88FD-4F9F-6059-5F38-E731A2D4058F}"/>
              </a:ext>
            </a:extLst>
          </p:cNvPr>
          <p:cNvSpPr txBox="1"/>
          <p:nvPr/>
        </p:nvSpPr>
        <p:spPr>
          <a:xfrm>
            <a:off x="7354865" y="1646535"/>
            <a:ext cx="991650"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US" sz="2400" b="1">
                <a:solidFill>
                  <a:srgbClr val="575757"/>
                </a:solidFill>
              </a:rPr>
              <a:t>问题</a:t>
            </a:r>
            <a:r>
              <a:rPr lang="en-US" altLang="zh-CN" sz="2400" b="1" dirty="0">
                <a:solidFill>
                  <a:srgbClr val="575757"/>
                </a:solidFill>
              </a:rPr>
              <a:t>1</a:t>
            </a:r>
            <a:endParaRPr lang="en-CN" sz="2400" b="1" dirty="0">
              <a:solidFill>
                <a:srgbClr val="575757"/>
              </a:solidFill>
            </a:endParaRPr>
          </a:p>
        </p:txBody>
      </p:sp>
      <p:sp>
        <p:nvSpPr>
          <p:cNvPr id="48" name="TextBox 47">
            <a:extLst>
              <a:ext uri="{FF2B5EF4-FFF2-40B4-BE49-F238E27FC236}">
                <a16:creationId xmlns:a16="http://schemas.microsoft.com/office/drawing/2014/main" id="{9DDAC5CB-68A1-516B-934E-86052D7D3E95}"/>
              </a:ext>
            </a:extLst>
          </p:cNvPr>
          <p:cNvSpPr txBox="1"/>
          <p:nvPr/>
        </p:nvSpPr>
        <p:spPr>
          <a:xfrm>
            <a:off x="8448199" y="1646535"/>
            <a:ext cx="455458"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US" altLang="zh-CN" sz="2400" b="1" dirty="0">
                <a:solidFill>
                  <a:srgbClr val="575757"/>
                </a:solidFill>
              </a:rPr>
              <a:t>…</a:t>
            </a:r>
            <a:endParaRPr lang="en-CN" sz="2400" b="1" dirty="0">
              <a:solidFill>
                <a:srgbClr val="575757"/>
              </a:solidFill>
            </a:endParaRPr>
          </a:p>
        </p:txBody>
      </p:sp>
      <p:sp>
        <p:nvSpPr>
          <p:cNvPr id="49" name="TextBox 48">
            <a:extLst>
              <a:ext uri="{FF2B5EF4-FFF2-40B4-BE49-F238E27FC236}">
                <a16:creationId xmlns:a16="http://schemas.microsoft.com/office/drawing/2014/main" id="{4171E322-02ED-1371-8CB6-2B76A7A2C4AD}"/>
              </a:ext>
            </a:extLst>
          </p:cNvPr>
          <p:cNvSpPr txBox="1"/>
          <p:nvPr/>
        </p:nvSpPr>
        <p:spPr>
          <a:xfrm>
            <a:off x="9005341" y="1646535"/>
            <a:ext cx="1220249" cy="461665"/>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r>
              <a:rPr lang="en-US" sz="2400" b="1" dirty="0">
                <a:solidFill>
                  <a:srgbClr val="575757"/>
                </a:solidFill>
              </a:rPr>
              <a:t>问题</a:t>
            </a:r>
            <a:r>
              <a:rPr lang="en-US" altLang="zh-CN" sz="2400" b="1" dirty="0">
                <a:solidFill>
                  <a:srgbClr val="575757"/>
                </a:solidFill>
              </a:rPr>
              <a:t>60</a:t>
            </a:r>
            <a:endParaRPr lang="en-CN" sz="2400" b="1" dirty="0">
              <a:solidFill>
                <a:srgbClr val="575757"/>
              </a:solidFill>
            </a:endParaRPr>
          </a:p>
        </p:txBody>
      </p:sp>
      <p:sp>
        <p:nvSpPr>
          <p:cNvPr id="50" name="TextBox 49">
            <a:extLst>
              <a:ext uri="{FF2B5EF4-FFF2-40B4-BE49-F238E27FC236}">
                <a16:creationId xmlns:a16="http://schemas.microsoft.com/office/drawing/2014/main" id="{94E29D63-285D-D68D-E8D6-3A352F516609}"/>
              </a:ext>
            </a:extLst>
          </p:cNvPr>
          <p:cNvSpPr txBox="1"/>
          <p:nvPr/>
        </p:nvSpPr>
        <p:spPr>
          <a:xfrm>
            <a:off x="2386156" y="5699550"/>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答案可见度</a:t>
            </a:r>
          </a:p>
        </p:txBody>
      </p:sp>
      <p:sp>
        <p:nvSpPr>
          <p:cNvPr id="51" name="TextBox 50">
            <a:extLst>
              <a:ext uri="{FF2B5EF4-FFF2-40B4-BE49-F238E27FC236}">
                <a16:creationId xmlns:a16="http://schemas.microsoft.com/office/drawing/2014/main" id="{0EE86649-4C78-EC0D-8DF4-5C2A4ABB6D5A}"/>
              </a:ext>
            </a:extLst>
          </p:cNvPr>
          <p:cNvSpPr txBox="1"/>
          <p:nvPr/>
        </p:nvSpPr>
        <p:spPr>
          <a:xfrm>
            <a:off x="4837925" y="5699549"/>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认知准确度</a:t>
            </a:r>
          </a:p>
        </p:txBody>
      </p:sp>
      <p:sp>
        <p:nvSpPr>
          <p:cNvPr id="52" name="TextBox 51">
            <a:extLst>
              <a:ext uri="{FF2B5EF4-FFF2-40B4-BE49-F238E27FC236}">
                <a16:creationId xmlns:a16="http://schemas.microsoft.com/office/drawing/2014/main" id="{404303DF-CEFA-81BA-7622-4CC2732B31C5}"/>
              </a:ext>
            </a:extLst>
          </p:cNvPr>
          <p:cNvSpPr txBox="1"/>
          <p:nvPr/>
        </p:nvSpPr>
        <p:spPr>
          <a:xfrm>
            <a:off x="7289694" y="5699550"/>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证据纳入度</a:t>
            </a:r>
          </a:p>
        </p:txBody>
      </p:sp>
      <p:sp>
        <p:nvSpPr>
          <p:cNvPr id="53" name="TextBox 52">
            <a:extLst>
              <a:ext uri="{FF2B5EF4-FFF2-40B4-BE49-F238E27FC236}">
                <a16:creationId xmlns:a16="http://schemas.microsoft.com/office/drawing/2014/main" id="{8815101F-18D8-AE2E-5046-B4C99BF0C914}"/>
              </a:ext>
            </a:extLst>
          </p:cNvPr>
          <p:cNvSpPr txBox="1"/>
          <p:nvPr/>
        </p:nvSpPr>
        <p:spPr>
          <a:xfrm>
            <a:off x="9741462" y="5699549"/>
            <a:ext cx="1739338" cy="925773"/>
          </a:xfrm>
          <a:prstGeom prst="rect">
            <a:avLst/>
          </a:prstGeom>
          <a:no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noAutofit/>
          </a:bodyPr>
          <a:lstStyle/>
          <a:p>
            <a:pPr algn="ctr"/>
            <a:r>
              <a:rPr lang="en-CN" sz="2400" b="1" dirty="0">
                <a:solidFill>
                  <a:srgbClr val="575757"/>
                </a:solidFill>
              </a:rPr>
              <a:t>推荐转化力</a:t>
            </a:r>
          </a:p>
        </p:txBody>
      </p:sp>
      <p:sp>
        <p:nvSpPr>
          <p:cNvPr id="54" name="TextBox 53">
            <a:extLst>
              <a:ext uri="{FF2B5EF4-FFF2-40B4-BE49-F238E27FC236}">
                <a16:creationId xmlns:a16="http://schemas.microsoft.com/office/drawing/2014/main" id="{84843A15-B910-6363-DDB0-417C358D5401}"/>
              </a:ext>
            </a:extLst>
          </p:cNvPr>
          <p:cNvSpPr txBox="1"/>
          <p:nvPr/>
        </p:nvSpPr>
        <p:spPr>
          <a:xfrm>
            <a:off x="1014556" y="5699549"/>
            <a:ext cx="879080" cy="925773"/>
          </a:xfrm>
          <a:prstGeom prst="rect">
            <a:avLst/>
          </a:prstGeom>
          <a:no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accent6"/>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CN" sz="2400" b="1" dirty="0">
                <a:solidFill>
                  <a:srgbClr val="575757"/>
                </a:solidFill>
              </a:rPr>
              <a:t>四大维度</a:t>
            </a:r>
          </a:p>
        </p:txBody>
      </p:sp>
      <p:sp>
        <p:nvSpPr>
          <p:cNvPr id="56" name="Down Arrow 55">
            <a:extLst>
              <a:ext uri="{FF2B5EF4-FFF2-40B4-BE49-F238E27FC236}">
                <a16:creationId xmlns:a16="http://schemas.microsoft.com/office/drawing/2014/main" id="{F9BE0A8D-67BF-35CE-16EB-E93D28F8CC98}"/>
              </a:ext>
            </a:extLst>
          </p:cNvPr>
          <p:cNvSpPr/>
          <p:nvPr/>
        </p:nvSpPr>
        <p:spPr>
          <a:xfrm>
            <a:off x="5433948" y="4475623"/>
            <a:ext cx="3268783" cy="1426721"/>
          </a:xfrm>
          <a:prstGeom prst="downArrow">
            <a:avLst/>
          </a:prstGeom>
          <a:solidFill>
            <a:srgbClr val="FFFFFF"/>
          </a:solidFill>
          <a:ln w="9525" cap="rnd" cmpd="sng" algn="ctr">
            <a:solidFill>
              <a:srgbClr val="0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CN" sz="2000" dirty="0">
                <a:solidFill>
                  <a:srgbClr val="000000"/>
                </a:solidFill>
              </a:rPr>
              <a:t>评估</a:t>
            </a:r>
            <a:endParaRPr kumimoji="1" lang="en-GB" sz="2000" dirty="0">
              <a:solidFill>
                <a:srgbClr val="000000"/>
              </a:solidFill>
            </a:endParaRPr>
          </a:p>
        </p:txBody>
      </p:sp>
    </p:spTree>
    <p:extLst>
      <p:ext uri="{BB962C8B-B14F-4D97-AF65-F5344CB8AC3E}">
        <p14:creationId xmlns:p14="http://schemas.microsoft.com/office/powerpoint/2010/main" val="1483901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90812B-33CC-C01C-6531-539BBC98F85C}"/>
              </a:ext>
            </a:extLst>
          </p:cNvPr>
          <p:cNvPicPr>
            <a:picLocks noChangeAspect="1"/>
          </p:cNvPicPr>
          <p:nvPr/>
        </p:nvPicPr>
        <p:blipFill>
          <a:blip r:embed="rId2"/>
          <a:stretch>
            <a:fillRect/>
          </a:stretch>
        </p:blipFill>
        <p:spPr>
          <a:xfrm>
            <a:off x="2413000" y="1715178"/>
            <a:ext cx="7772400" cy="4672243"/>
          </a:xfrm>
          <a:prstGeom prst="rect">
            <a:avLst/>
          </a:prstGeom>
        </p:spPr>
      </p:pic>
      <p:sp>
        <p:nvSpPr>
          <p:cNvPr id="3" name="Title 1">
            <a:extLst>
              <a:ext uri="{FF2B5EF4-FFF2-40B4-BE49-F238E27FC236}">
                <a16:creationId xmlns:a16="http://schemas.microsoft.com/office/drawing/2014/main" id="{BEE313F3-3080-7C2D-24BD-BA1121961CCE}"/>
              </a:ext>
            </a:extLst>
          </p:cNvPr>
          <p:cNvSpPr txBox="1">
            <a:spLocks/>
          </p:cNvSpPr>
          <p:nvPr/>
        </p:nvSpPr>
        <p:spPr>
          <a:xfrm>
            <a:off x="1117220" y="454874"/>
            <a:ext cx="10579480"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n-CN" b="1" dirty="0">
                <a:solidFill>
                  <a:schemeClr val="accent6"/>
                </a:solidFill>
              </a:rPr>
              <a:t>胰岛素泵</a:t>
            </a:r>
            <a:r>
              <a:rPr lang="zh-CN" altLang="en-US" b="1" dirty="0">
                <a:solidFill>
                  <a:schemeClr val="accent6"/>
                </a:solidFill>
              </a:rPr>
              <a:t>，美敦力</a:t>
            </a:r>
            <a:r>
              <a:rPr lang="en-US" altLang="zh-CN" b="1" dirty="0">
                <a:solidFill>
                  <a:schemeClr val="accent6"/>
                </a:solidFill>
              </a:rPr>
              <a:t>vs</a:t>
            </a:r>
            <a:r>
              <a:rPr lang="zh-CN" altLang="en-US" b="1" dirty="0">
                <a:solidFill>
                  <a:schemeClr val="accent6"/>
                </a:solidFill>
              </a:rPr>
              <a:t>雅培，</a:t>
            </a:r>
            <a:r>
              <a:rPr lang="en-US" altLang="zh-CN" b="1" dirty="0">
                <a:solidFill>
                  <a:schemeClr val="accent6"/>
                </a:solidFill>
              </a:rPr>
              <a:t>DeepSeek</a:t>
            </a:r>
            <a:r>
              <a:rPr lang="zh-CN" altLang="en-US" b="1" dirty="0">
                <a:solidFill>
                  <a:schemeClr val="accent6"/>
                </a:solidFill>
              </a:rPr>
              <a:t>和腾讯元宝 均推荐 雅培</a:t>
            </a:r>
            <a:r>
              <a:rPr lang="en-US" altLang="zh-CN" b="1" dirty="0">
                <a:solidFill>
                  <a:schemeClr val="accent6"/>
                </a:solidFill>
              </a:rPr>
              <a:t>Dexcom</a:t>
            </a:r>
            <a:endParaRPr lang="en-CN" b="1" dirty="0">
              <a:solidFill>
                <a:schemeClr val="accent6"/>
              </a:solidFill>
            </a:endParaRPr>
          </a:p>
        </p:txBody>
      </p:sp>
    </p:spTree>
    <p:extLst>
      <p:ext uri="{BB962C8B-B14F-4D97-AF65-F5344CB8AC3E}">
        <p14:creationId xmlns:p14="http://schemas.microsoft.com/office/powerpoint/2010/main" val="34082074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EDA569-0BAF-3072-2F71-5FCE10FFBE8C}"/>
              </a:ext>
            </a:extLst>
          </p:cNvPr>
          <p:cNvPicPr>
            <a:picLocks noChangeAspect="1"/>
          </p:cNvPicPr>
          <p:nvPr/>
        </p:nvPicPr>
        <p:blipFill>
          <a:blip r:embed="rId2"/>
          <a:stretch>
            <a:fillRect/>
          </a:stretch>
        </p:blipFill>
        <p:spPr>
          <a:xfrm>
            <a:off x="2425700" y="1784469"/>
            <a:ext cx="7772400" cy="4721013"/>
          </a:xfrm>
          <a:prstGeom prst="rect">
            <a:avLst/>
          </a:prstGeom>
        </p:spPr>
      </p:pic>
      <p:sp>
        <p:nvSpPr>
          <p:cNvPr id="3" name="Title 1">
            <a:extLst>
              <a:ext uri="{FF2B5EF4-FFF2-40B4-BE49-F238E27FC236}">
                <a16:creationId xmlns:a16="http://schemas.microsoft.com/office/drawing/2014/main" id="{AC1354D8-280D-97E0-084D-B3475CE3CE70}"/>
              </a:ext>
            </a:extLst>
          </p:cNvPr>
          <p:cNvSpPr txBox="1">
            <a:spLocks/>
          </p:cNvSpPr>
          <p:nvPr/>
        </p:nvSpPr>
        <p:spPr>
          <a:xfrm>
            <a:off x="1117220" y="454874"/>
            <a:ext cx="10579480" cy="13295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zh-CN" altLang="en-US" b="1" dirty="0">
                <a:solidFill>
                  <a:schemeClr val="accent6"/>
                </a:solidFill>
              </a:rPr>
              <a:t>患者对召回新闻的顾虑</a:t>
            </a:r>
            <a:endParaRPr lang="en-US" altLang="zh-CN" b="1" dirty="0">
              <a:solidFill>
                <a:schemeClr val="accent6"/>
              </a:solidFill>
            </a:endParaRPr>
          </a:p>
          <a:p>
            <a:r>
              <a:rPr lang="en-US" altLang="zh-CN" b="1" dirty="0">
                <a:solidFill>
                  <a:schemeClr val="accent6"/>
                </a:solidFill>
              </a:rPr>
              <a:t>DeepSeek</a:t>
            </a:r>
            <a:r>
              <a:rPr lang="zh-CN" altLang="en-US" b="1" dirty="0">
                <a:solidFill>
                  <a:schemeClr val="accent6"/>
                </a:solidFill>
              </a:rPr>
              <a:t>只给出宽泛的“召回”行业知识</a:t>
            </a:r>
            <a:endParaRPr lang="en-US" altLang="zh-CN" b="1" dirty="0">
              <a:solidFill>
                <a:schemeClr val="accent6"/>
              </a:solidFill>
            </a:endParaRPr>
          </a:p>
          <a:p>
            <a:r>
              <a:rPr lang="zh-CN" altLang="en-US" b="1" dirty="0">
                <a:solidFill>
                  <a:schemeClr val="accent6"/>
                </a:solidFill>
              </a:rPr>
              <a:t>腾讯元宝，给出具体回应“</a:t>
            </a:r>
            <a:r>
              <a:rPr lang="en-CN" dirty="0"/>
              <a:t>美敦力产品线极广（起搏器、支架、胰岛素泵、导航系统等），体量大所以召回公告也多，但这恰恰说明它受监管盯得紧</a:t>
            </a:r>
            <a:r>
              <a:rPr lang="zh-CN" altLang="en-US" b="1" dirty="0">
                <a:solidFill>
                  <a:schemeClr val="accent6"/>
                </a:solidFill>
              </a:rPr>
              <a:t>”</a:t>
            </a:r>
            <a:endParaRPr lang="en-CN" b="1" dirty="0">
              <a:solidFill>
                <a:schemeClr val="accent6"/>
              </a:solidFill>
            </a:endParaRPr>
          </a:p>
        </p:txBody>
      </p:sp>
    </p:spTree>
    <p:extLst>
      <p:ext uri="{BB962C8B-B14F-4D97-AF65-F5344CB8AC3E}">
        <p14:creationId xmlns:p14="http://schemas.microsoft.com/office/powerpoint/2010/main" val="502982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1769CC-F628-F183-102B-B3FCE6A0BD93}"/>
              </a:ext>
            </a:extLst>
          </p:cNvPr>
          <p:cNvPicPr>
            <a:picLocks noChangeAspect="1"/>
          </p:cNvPicPr>
          <p:nvPr/>
        </p:nvPicPr>
        <p:blipFill>
          <a:blip r:embed="rId2"/>
          <a:stretch>
            <a:fillRect/>
          </a:stretch>
        </p:blipFill>
        <p:spPr>
          <a:xfrm>
            <a:off x="2209800" y="1248456"/>
            <a:ext cx="7772400" cy="5497162"/>
          </a:xfrm>
          <a:prstGeom prst="rect">
            <a:avLst/>
          </a:prstGeom>
        </p:spPr>
      </p:pic>
      <p:sp>
        <p:nvSpPr>
          <p:cNvPr id="3" name="Title 1">
            <a:extLst>
              <a:ext uri="{FF2B5EF4-FFF2-40B4-BE49-F238E27FC236}">
                <a16:creationId xmlns:a16="http://schemas.microsoft.com/office/drawing/2014/main" id="{05026268-CED1-087F-42F2-6D842879D2DF}"/>
              </a:ext>
            </a:extLst>
          </p:cNvPr>
          <p:cNvSpPr txBox="1">
            <a:spLocks/>
          </p:cNvSpPr>
          <p:nvPr/>
        </p:nvSpPr>
        <p:spPr>
          <a:xfrm>
            <a:off x="1117220" y="454874"/>
            <a:ext cx="10579480"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n-US" altLang="zh-CN" b="1" dirty="0" err="1">
                <a:solidFill>
                  <a:schemeClr val="accent6"/>
                </a:solidFill>
              </a:rPr>
              <a:t>MiniMed</a:t>
            </a:r>
            <a:r>
              <a:rPr lang="zh-CN" altLang="en-US" b="1" dirty="0">
                <a:solidFill>
                  <a:schemeClr val="accent6"/>
                </a:solidFill>
              </a:rPr>
              <a:t> </a:t>
            </a:r>
            <a:r>
              <a:rPr lang="en-US" altLang="zh-CN" b="1" dirty="0">
                <a:solidFill>
                  <a:schemeClr val="accent6"/>
                </a:solidFill>
              </a:rPr>
              <a:t>780G</a:t>
            </a:r>
            <a:r>
              <a:rPr lang="zh-CN" altLang="en-US" b="1" dirty="0">
                <a:solidFill>
                  <a:schemeClr val="accent6"/>
                </a:solidFill>
              </a:rPr>
              <a:t>，</a:t>
            </a:r>
            <a:r>
              <a:rPr lang="en-US" altLang="zh-CN" b="1" dirty="0">
                <a:solidFill>
                  <a:schemeClr val="accent6"/>
                </a:solidFill>
              </a:rPr>
              <a:t>8</a:t>
            </a:r>
            <a:r>
              <a:rPr lang="zh-CN" altLang="en-US" b="1" dirty="0">
                <a:solidFill>
                  <a:schemeClr val="accent6"/>
                </a:solidFill>
              </a:rPr>
              <a:t>大缺点，都没有对应的证据缓释</a:t>
            </a:r>
            <a:endParaRPr lang="en-CN" b="1" dirty="0">
              <a:solidFill>
                <a:schemeClr val="accent6"/>
              </a:solidFill>
            </a:endParaRPr>
          </a:p>
        </p:txBody>
      </p:sp>
    </p:spTree>
    <p:extLst>
      <p:ext uri="{BB962C8B-B14F-4D97-AF65-F5344CB8AC3E}">
        <p14:creationId xmlns:p14="http://schemas.microsoft.com/office/powerpoint/2010/main" val="6475536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B03029-8F97-EC30-FD9B-F24FEDCF3796}"/>
              </a:ext>
            </a:extLst>
          </p:cNvPr>
          <p:cNvPicPr>
            <a:picLocks noChangeAspect="1"/>
          </p:cNvPicPr>
          <p:nvPr/>
        </p:nvPicPr>
        <p:blipFill>
          <a:blip r:embed="rId2"/>
          <a:stretch>
            <a:fillRect/>
          </a:stretch>
        </p:blipFill>
        <p:spPr>
          <a:xfrm>
            <a:off x="2833254" y="1064007"/>
            <a:ext cx="7252855" cy="5154648"/>
          </a:xfrm>
          <a:prstGeom prst="rect">
            <a:avLst/>
          </a:prstGeom>
        </p:spPr>
      </p:pic>
      <p:sp>
        <p:nvSpPr>
          <p:cNvPr id="3" name="Title 1">
            <a:extLst>
              <a:ext uri="{FF2B5EF4-FFF2-40B4-BE49-F238E27FC236}">
                <a16:creationId xmlns:a16="http://schemas.microsoft.com/office/drawing/2014/main" id="{43D16C96-CBBF-EED2-50C6-DAEB9B1E060C}"/>
              </a:ext>
            </a:extLst>
          </p:cNvPr>
          <p:cNvSpPr txBox="1">
            <a:spLocks/>
          </p:cNvSpPr>
          <p:nvPr/>
        </p:nvSpPr>
        <p:spPr>
          <a:xfrm>
            <a:off x="1117220" y="454874"/>
            <a:ext cx="10579480"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n-US" altLang="zh-CN" b="1" dirty="0" err="1">
                <a:solidFill>
                  <a:schemeClr val="accent6"/>
                </a:solidFill>
              </a:rPr>
              <a:t>MiniMed</a:t>
            </a:r>
            <a:r>
              <a:rPr lang="zh-CN" altLang="en-US" b="1" dirty="0">
                <a:solidFill>
                  <a:schemeClr val="accent6"/>
                </a:solidFill>
              </a:rPr>
              <a:t> </a:t>
            </a:r>
            <a:r>
              <a:rPr lang="en-US" altLang="zh-CN" b="1" dirty="0">
                <a:solidFill>
                  <a:schemeClr val="accent6"/>
                </a:solidFill>
              </a:rPr>
              <a:t>AID</a:t>
            </a:r>
            <a:r>
              <a:rPr lang="zh-CN" altLang="en-US" b="1" dirty="0">
                <a:solidFill>
                  <a:schemeClr val="accent6"/>
                </a:solidFill>
              </a:rPr>
              <a:t>，未获美国</a:t>
            </a:r>
            <a:r>
              <a:rPr lang="en-US" altLang="zh-CN" b="1" dirty="0">
                <a:solidFill>
                  <a:schemeClr val="accent6"/>
                </a:solidFill>
              </a:rPr>
              <a:t>FDA</a:t>
            </a:r>
            <a:r>
              <a:rPr lang="zh-CN" altLang="en-US" b="1" dirty="0">
                <a:solidFill>
                  <a:schemeClr val="accent6"/>
                </a:solidFill>
              </a:rPr>
              <a:t>批准，加粗高亮，</a:t>
            </a:r>
            <a:r>
              <a:rPr lang="zh-CN" altLang="en-CN" b="1" dirty="0">
                <a:solidFill>
                  <a:schemeClr val="accent6"/>
                </a:solidFill>
              </a:rPr>
              <a:t>并未</a:t>
            </a:r>
            <a:r>
              <a:rPr lang="zh-CN" altLang="en-US" b="1" dirty="0">
                <a:solidFill>
                  <a:schemeClr val="accent6"/>
                </a:solidFill>
              </a:rPr>
              <a:t>被统一为更温和的措辞</a:t>
            </a:r>
            <a:endParaRPr lang="en-US" altLang="zh-CN" b="1" dirty="0">
              <a:solidFill>
                <a:schemeClr val="accent6"/>
              </a:solidFill>
            </a:endParaRPr>
          </a:p>
        </p:txBody>
      </p:sp>
    </p:spTree>
    <p:extLst>
      <p:ext uri="{BB962C8B-B14F-4D97-AF65-F5344CB8AC3E}">
        <p14:creationId xmlns:p14="http://schemas.microsoft.com/office/powerpoint/2010/main" val="1377096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5E70969-B3D2-740B-B815-F2B3521787D2}"/>
              </a:ext>
            </a:extLst>
          </p:cNvPr>
          <p:cNvPicPr>
            <a:picLocks noChangeAspect="1"/>
          </p:cNvPicPr>
          <p:nvPr/>
        </p:nvPicPr>
        <p:blipFill>
          <a:blip r:embed="rId2"/>
          <a:stretch>
            <a:fillRect/>
          </a:stretch>
        </p:blipFill>
        <p:spPr>
          <a:xfrm>
            <a:off x="2209800" y="1262507"/>
            <a:ext cx="7772400" cy="4332986"/>
          </a:xfrm>
          <a:prstGeom prst="rect">
            <a:avLst/>
          </a:prstGeom>
        </p:spPr>
      </p:pic>
      <p:sp>
        <p:nvSpPr>
          <p:cNvPr id="3" name="Title 1">
            <a:extLst>
              <a:ext uri="{FF2B5EF4-FFF2-40B4-BE49-F238E27FC236}">
                <a16:creationId xmlns:a16="http://schemas.microsoft.com/office/drawing/2014/main" id="{EBF086A7-0356-B20D-3760-55717424E446}"/>
              </a:ext>
            </a:extLst>
          </p:cNvPr>
          <p:cNvSpPr txBox="1">
            <a:spLocks/>
          </p:cNvSpPr>
          <p:nvPr/>
        </p:nvSpPr>
        <p:spPr>
          <a:xfrm>
            <a:off x="1117220" y="454874"/>
            <a:ext cx="10579480"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zh-CN" altLang="en-US" b="1" dirty="0">
                <a:solidFill>
                  <a:schemeClr val="accent6"/>
                </a:solidFill>
              </a:rPr>
              <a:t>推荐</a:t>
            </a:r>
            <a:r>
              <a:rPr lang="en-US" altLang="zh-CN" b="1" dirty="0">
                <a:solidFill>
                  <a:schemeClr val="accent6"/>
                </a:solidFill>
              </a:rPr>
              <a:t>Tandem</a:t>
            </a:r>
            <a:r>
              <a:rPr lang="zh-CN" altLang="en-US" b="1" dirty="0">
                <a:solidFill>
                  <a:schemeClr val="accent6"/>
                </a:solidFill>
              </a:rPr>
              <a:t>：更适配</a:t>
            </a:r>
            <a:r>
              <a:rPr lang="en-US" altLang="zh-CN" b="1" dirty="0">
                <a:solidFill>
                  <a:schemeClr val="accent6"/>
                </a:solidFill>
              </a:rPr>
              <a:t>G7</a:t>
            </a:r>
            <a:r>
              <a:rPr lang="zh-CN" altLang="en-US" b="1" dirty="0">
                <a:solidFill>
                  <a:schemeClr val="accent6"/>
                </a:solidFill>
              </a:rPr>
              <a:t>，体验更现代</a:t>
            </a:r>
            <a:endParaRPr lang="en-US" altLang="zh-CN" b="1" dirty="0">
              <a:solidFill>
                <a:schemeClr val="accent6"/>
              </a:solidFill>
            </a:endParaRPr>
          </a:p>
        </p:txBody>
      </p:sp>
    </p:spTree>
    <p:extLst>
      <p:ext uri="{BB962C8B-B14F-4D97-AF65-F5344CB8AC3E}">
        <p14:creationId xmlns:p14="http://schemas.microsoft.com/office/powerpoint/2010/main" val="4276173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C06A7D-7F23-407A-4944-7E714DB63D58}"/>
              </a:ext>
            </a:extLst>
          </p:cNvPr>
          <p:cNvPicPr>
            <a:picLocks noChangeAspect="1"/>
          </p:cNvPicPr>
          <p:nvPr/>
        </p:nvPicPr>
        <p:blipFill>
          <a:blip r:embed="rId2"/>
          <a:stretch>
            <a:fillRect/>
          </a:stretch>
        </p:blipFill>
        <p:spPr>
          <a:xfrm>
            <a:off x="2209800" y="863767"/>
            <a:ext cx="7772400" cy="5130465"/>
          </a:xfrm>
          <a:prstGeom prst="rect">
            <a:avLst/>
          </a:prstGeom>
        </p:spPr>
      </p:pic>
      <p:sp>
        <p:nvSpPr>
          <p:cNvPr id="3" name="Title 1">
            <a:extLst>
              <a:ext uri="{FF2B5EF4-FFF2-40B4-BE49-F238E27FC236}">
                <a16:creationId xmlns:a16="http://schemas.microsoft.com/office/drawing/2014/main" id="{1D40987C-2ED6-19B0-2DB8-F87C8DED8B9F}"/>
              </a:ext>
            </a:extLst>
          </p:cNvPr>
          <p:cNvSpPr txBox="1">
            <a:spLocks/>
          </p:cNvSpPr>
          <p:nvPr/>
        </p:nvSpPr>
        <p:spPr>
          <a:xfrm>
            <a:off x="1117220" y="454874"/>
            <a:ext cx="10579480"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a:lstStyle>
          <a:p>
            <a:r>
              <a:rPr lang="en-US" altLang="zh-CN" b="1" dirty="0" err="1">
                <a:solidFill>
                  <a:schemeClr val="accent6"/>
                </a:solidFill>
              </a:rPr>
              <a:t>MiniMed</a:t>
            </a:r>
            <a:r>
              <a:rPr lang="zh-CN" altLang="en-US" b="1" dirty="0">
                <a:solidFill>
                  <a:schemeClr val="accent6"/>
                </a:solidFill>
              </a:rPr>
              <a:t>的</a:t>
            </a:r>
            <a:r>
              <a:rPr lang="en-US" altLang="zh-CN" b="1" dirty="0">
                <a:solidFill>
                  <a:schemeClr val="accent6"/>
                </a:solidFill>
              </a:rPr>
              <a:t>CGM</a:t>
            </a:r>
            <a:r>
              <a:rPr lang="zh-CN" altLang="en-US" b="1" dirty="0">
                <a:solidFill>
                  <a:schemeClr val="accent6"/>
                </a:solidFill>
              </a:rPr>
              <a:t>生态比</a:t>
            </a:r>
            <a:r>
              <a:rPr lang="en-US" altLang="zh-CN" b="1" dirty="0">
                <a:solidFill>
                  <a:schemeClr val="accent6"/>
                </a:solidFill>
              </a:rPr>
              <a:t>Dexcom</a:t>
            </a:r>
            <a:r>
              <a:rPr lang="zh-CN" altLang="en-US" b="1" dirty="0">
                <a:solidFill>
                  <a:schemeClr val="accent6"/>
                </a:solidFill>
              </a:rPr>
              <a:t>有明显差距</a:t>
            </a:r>
            <a:endParaRPr lang="en-US" altLang="zh-CN" b="1" dirty="0">
              <a:solidFill>
                <a:schemeClr val="accent6"/>
              </a:solidFill>
            </a:endParaRPr>
          </a:p>
        </p:txBody>
      </p:sp>
    </p:spTree>
    <p:extLst>
      <p:ext uri="{BB962C8B-B14F-4D97-AF65-F5344CB8AC3E}">
        <p14:creationId xmlns:p14="http://schemas.microsoft.com/office/powerpoint/2010/main" val="28227408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wUsyX191CnpzM7rwny7Mg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ESE3_LU_imcCa1GGKqvoE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xUGn6A4pu2_3ZjKgnMPuU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spPr>
      <a:bodyPr rot="0" spcFirstLastPara="0" vertOverflow="overflow" horzOverflow="overflow" vert="horz" wrap="none" lIns="91440" tIns="45720" rIns="91440" bIns="45720" numCol="1" spcCol="0" rtlCol="0" fromWordArt="0" anchor="ctr" anchorCtr="0" forceAA="0" compatLnSpc="1">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3749</TotalTime>
  <Words>200</Words>
  <Application>Microsoft Macintosh PowerPoint</Application>
  <PresentationFormat>Widescreen</PresentationFormat>
  <Paragraphs>49</Paragraphs>
  <Slides>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4" baseType="lpstr">
      <vt:lpstr>等线</vt:lpstr>
      <vt:lpstr>Aptos</vt:lpstr>
      <vt:lpstr>Arial</vt:lpstr>
      <vt:lpstr>Trebuchet MS</vt:lpstr>
      <vt:lpstr>BCG Grid 16:9</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Fei Deng</dc:creator>
  <cp:lastModifiedBy>煜烔 冯</cp:lastModifiedBy>
  <cp:revision>144</cp:revision>
  <cp:lastPrinted>2026-05-28T04:46:32Z</cp:lastPrinted>
  <dcterms:created xsi:type="dcterms:W3CDTF">2026-03-23T08:28:05Z</dcterms:created>
  <dcterms:modified xsi:type="dcterms:W3CDTF">2026-05-28T05:16:28Z</dcterms:modified>
</cp:coreProperties>
</file>